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embeddedFontLst>
    <p:embeddedFont>
      <p:font typeface="Hedvig Letters Sans" charset="-122" pitchFamily="34"/>
      <p:regular r:id="rId13"/>
    </p:embeddedFont>
    <p:embeddedFont>
      <p:font typeface="Quattrocento Sans" charset="-122" pitchFamily="34"/>
      <p:regular r:id="rId14"/>
    </p:embeddedFon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4cac7af03e3d43495b9bf282e435b41b9b742dc.jp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E4A">
                  <a:alpha val="95000"/>
                </a:srgbClr>
              </a:gs>
              <a:gs pos="50000">
                <a:srgbClr val="1A2E4A">
                  <a:alpha val="85000"/>
                </a:srgbClr>
              </a:gs>
              <a:gs pos="100000">
                <a:srgbClr val="1A2E4A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189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" name="Shape 2"/>
          <p:cNvSpPr/>
          <p:nvPr/>
        </p:nvSpPr>
        <p:spPr>
          <a:xfrm>
            <a:off x="466725" y="53328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381000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AutomateLabs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685681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SaaS +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874520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SaaS + AI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Automations That Pay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Themselves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75107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build secure, scalable internal tools and AI workflows—without enterprise-level budgets.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875020"/>
            <a:ext cx="2266950" cy="600075"/>
          </a:xfrm>
          <a:custGeom>
            <a:avLst/>
            <a:gdLst/>
            <a:ahLst/>
            <a:cxnLst/>
            <a:rect l="l" t="t" r="r" b="b"/>
            <a:pathLst>
              <a:path w="2266950" h="600075">
                <a:moveTo>
                  <a:pt x="114302" y="0"/>
                </a:moveTo>
                <a:lnTo>
                  <a:pt x="2152648" y="0"/>
                </a:lnTo>
                <a:cubicBezTo>
                  <a:pt x="2215733" y="0"/>
                  <a:pt x="2266950" y="51217"/>
                  <a:pt x="2266950" y="114302"/>
                </a:cubicBezTo>
                <a:lnTo>
                  <a:pt x="2266950" y="485773"/>
                </a:lnTo>
                <a:cubicBezTo>
                  <a:pt x="2266950" y="548858"/>
                  <a:pt x="2215733" y="600075"/>
                  <a:pt x="2152648" y="600075"/>
                </a:cubicBezTo>
                <a:lnTo>
                  <a:pt x="114302" y="600075"/>
                </a:lnTo>
                <a:cubicBezTo>
                  <a:pt x="51217" y="600075"/>
                  <a:pt x="0" y="548858"/>
                  <a:pt x="0" y="4857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528" y="608838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14363" y="5875020"/>
            <a:ext cx="2076450" cy="600075"/>
          </a:xfrm>
          <a:prstGeom prst="rect">
            <a:avLst/>
          </a:prstGeom>
          <a:noFill/>
          <a:ln/>
        </p:spPr>
        <p:txBody>
          <a:bodyPr wrap="square" lIns="381000" tIns="152400" rIns="3810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Free Audit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42260" y="5882640"/>
            <a:ext cx="2110740" cy="586740"/>
          </a:xfrm>
          <a:custGeom>
            <a:avLst/>
            <a:gdLst/>
            <a:ahLst/>
            <a:cxnLst/>
            <a:rect l="l" t="t" r="r" b="b"/>
            <a:pathLst>
              <a:path w="2110740" h="586740">
                <a:moveTo>
                  <a:pt x="114303" y="0"/>
                </a:moveTo>
                <a:lnTo>
                  <a:pt x="1996437" y="0"/>
                </a:lnTo>
                <a:cubicBezTo>
                  <a:pt x="2059565" y="0"/>
                  <a:pt x="2110740" y="51175"/>
                  <a:pt x="2110740" y="114303"/>
                </a:cubicBezTo>
                <a:lnTo>
                  <a:pt x="2110740" y="472437"/>
                </a:lnTo>
                <a:cubicBezTo>
                  <a:pt x="2110740" y="535565"/>
                  <a:pt x="2059565" y="586740"/>
                  <a:pt x="1996437" y="586740"/>
                </a:cubicBezTo>
                <a:lnTo>
                  <a:pt x="114303" y="586740"/>
                </a:lnTo>
                <a:cubicBezTo>
                  <a:pt x="51175" y="586740"/>
                  <a:pt x="0" y="535565"/>
                  <a:pt x="0" y="47243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20320">
            <a:solidFill>
              <a:srgbClr val="F9FAFB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54693" y="608838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5" name="Text 12"/>
          <p:cNvSpPr/>
          <p:nvPr/>
        </p:nvSpPr>
        <p:spPr>
          <a:xfrm>
            <a:off x="3068003" y="5875020"/>
            <a:ext cx="1905000" cy="571500"/>
          </a:xfrm>
          <a:prstGeom prst="rect">
            <a:avLst/>
          </a:prstGeom>
          <a:noFill/>
          <a:ln/>
        </p:spPr>
        <p:txBody>
          <a:bodyPr wrap="square" lIns="381000" tIns="152400" rIns="3810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76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6875" y="555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3175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A2E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Businesses Bleed Time + Money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730250"/>
            <a:ext cx="664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the hidden costs that drain your resources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146175"/>
            <a:ext cx="5673725" cy="4324350"/>
          </a:xfrm>
          <a:custGeom>
            <a:avLst/>
            <a:gdLst/>
            <a:ahLst/>
            <a:cxnLst/>
            <a:rect l="l" t="t" r="r" b="b"/>
            <a:pathLst>
              <a:path w="5673725" h="4324350">
                <a:moveTo>
                  <a:pt x="127006" y="0"/>
                </a:moveTo>
                <a:lnTo>
                  <a:pt x="5546719" y="0"/>
                </a:lnTo>
                <a:cubicBezTo>
                  <a:pt x="5616862" y="0"/>
                  <a:pt x="5673725" y="56863"/>
                  <a:pt x="5673725" y="127006"/>
                </a:cubicBezTo>
                <a:lnTo>
                  <a:pt x="5673725" y="4197344"/>
                </a:lnTo>
                <a:cubicBezTo>
                  <a:pt x="5673725" y="4267487"/>
                  <a:pt x="5616862" y="4324350"/>
                  <a:pt x="5546719" y="4324350"/>
                </a:cubicBezTo>
                <a:lnTo>
                  <a:pt x="127006" y="4324350"/>
                </a:lnTo>
                <a:cubicBezTo>
                  <a:pt x="56863" y="4324350"/>
                  <a:pt x="0" y="4267487"/>
                  <a:pt x="0" y="4197344"/>
                </a:cubicBezTo>
                <a:lnTo>
                  <a:pt x="0" y="127006"/>
                </a:lnTo>
                <a:cubicBezTo>
                  <a:pt x="0" y="56910"/>
                  <a:pt x="56910" y="0"/>
                  <a:pt x="127006" y="0"/>
                </a:cubicBezTo>
                <a:close/>
              </a:path>
            </a:pathLst>
          </a:custGeom>
          <a:gradFill rotWithShape="1" flip="none">
            <a:gsLst>
              <a:gs pos="0">
                <a:srgbClr val="1A2E4A">
                  <a:alpha val="5000"/>
                </a:srgbClr>
              </a:gs>
              <a:gs pos="100000">
                <a:srgbClr val="1A2E4A">
                  <a:alpha val="10000"/>
                </a:srgbClr>
              </a:gs>
            </a:gsLst>
            <a:lin ang="2700000" scaled="1"/>
          </a:gradFill>
          <a:ln w="10160">
            <a:solidFill>
              <a:srgbClr val="1A2E4A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850" y="14033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1530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17600" y="148272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Repeating Tasks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" y="207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3413" y="21336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27000" y="111125"/>
                </a:lnTo>
                <a:cubicBezTo>
                  <a:pt x="135756" y="111125"/>
                  <a:pt x="142875" y="104006"/>
                  <a:pt x="142875" y="95250"/>
                </a:cubicBezTo>
                <a:lnTo>
                  <a:pt x="142875" y="31750"/>
                </a:lnTo>
                <a:cubicBezTo>
                  <a:pt x="142875" y="22994"/>
                  <a:pt x="135756" y="15875"/>
                  <a:pt x="127000" y="15875"/>
                </a:cubicBezTo>
                <a:lnTo>
                  <a:pt x="15875" y="15875"/>
                </a:lnTo>
                <a:close/>
                <a:moveTo>
                  <a:pt x="19844" y="31750"/>
                </a:moveTo>
                <a:lnTo>
                  <a:pt x="27781" y="31750"/>
                </a:lnTo>
                <a:cubicBezTo>
                  <a:pt x="29964" y="31750"/>
                  <a:pt x="31750" y="33536"/>
                  <a:pt x="31750" y="35719"/>
                </a:cubicBezTo>
                <a:lnTo>
                  <a:pt x="31750" y="43656"/>
                </a:lnTo>
                <a:cubicBezTo>
                  <a:pt x="31750" y="45839"/>
                  <a:pt x="29964" y="47625"/>
                  <a:pt x="27781" y="47625"/>
                </a:cubicBezTo>
                <a:lnTo>
                  <a:pt x="19844" y="47625"/>
                </a:lnTo>
                <a:cubicBezTo>
                  <a:pt x="17661" y="47625"/>
                  <a:pt x="15875" y="45839"/>
                  <a:pt x="15875" y="43656"/>
                </a:cubicBezTo>
                <a:lnTo>
                  <a:pt x="15875" y="35719"/>
                </a:lnTo>
                <a:cubicBezTo>
                  <a:pt x="15875" y="33536"/>
                  <a:pt x="17661" y="31750"/>
                  <a:pt x="19844" y="31750"/>
                </a:cubicBezTo>
                <a:close/>
                <a:moveTo>
                  <a:pt x="15875" y="59531"/>
                </a:moveTo>
                <a:cubicBezTo>
                  <a:pt x="15875" y="57348"/>
                  <a:pt x="17661" y="55563"/>
                  <a:pt x="19844" y="55563"/>
                </a:cubicBezTo>
                <a:lnTo>
                  <a:pt x="27781" y="55563"/>
                </a:lnTo>
                <a:cubicBezTo>
                  <a:pt x="29964" y="55563"/>
                  <a:pt x="31750" y="57348"/>
                  <a:pt x="31750" y="59531"/>
                </a:cubicBezTo>
                <a:lnTo>
                  <a:pt x="31750" y="67469"/>
                </a:lnTo>
                <a:cubicBezTo>
                  <a:pt x="31750" y="69652"/>
                  <a:pt x="29964" y="71438"/>
                  <a:pt x="27781" y="71438"/>
                </a:cubicBezTo>
                <a:lnTo>
                  <a:pt x="19844" y="71438"/>
                </a:lnTo>
                <a:cubicBezTo>
                  <a:pt x="17661" y="71438"/>
                  <a:pt x="15875" y="69652"/>
                  <a:pt x="15875" y="67469"/>
                </a:cubicBezTo>
                <a:lnTo>
                  <a:pt x="15875" y="59531"/>
                </a:lnTo>
                <a:close/>
                <a:moveTo>
                  <a:pt x="43656" y="31750"/>
                </a:moveTo>
                <a:lnTo>
                  <a:pt x="51594" y="31750"/>
                </a:lnTo>
                <a:cubicBezTo>
                  <a:pt x="53777" y="31750"/>
                  <a:pt x="55563" y="33536"/>
                  <a:pt x="55563" y="35719"/>
                </a:cubicBezTo>
                <a:lnTo>
                  <a:pt x="55563" y="43656"/>
                </a:lnTo>
                <a:cubicBezTo>
                  <a:pt x="55563" y="45839"/>
                  <a:pt x="53777" y="47625"/>
                  <a:pt x="51594" y="47625"/>
                </a:cubicBezTo>
                <a:lnTo>
                  <a:pt x="43656" y="47625"/>
                </a:lnTo>
                <a:cubicBezTo>
                  <a:pt x="41473" y="47625"/>
                  <a:pt x="39688" y="45839"/>
                  <a:pt x="39688" y="43656"/>
                </a:cubicBezTo>
                <a:lnTo>
                  <a:pt x="39688" y="35719"/>
                </a:lnTo>
                <a:cubicBezTo>
                  <a:pt x="39688" y="33536"/>
                  <a:pt x="41473" y="31750"/>
                  <a:pt x="43656" y="31750"/>
                </a:cubicBezTo>
                <a:close/>
                <a:moveTo>
                  <a:pt x="39688" y="59531"/>
                </a:moveTo>
                <a:cubicBezTo>
                  <a:pt x="39688" y="57348"/>
                  <a:pt x="41473" y="55563"/>
                  <a:pt x="43656" y="55563"/>
                </a:cubicBezTo>
                <a:lnTo>
                  <a:pt x="51594" y="55563"/>
                </a:lnTo>
                <a:cubicBezTo>
                  <a:pt x="53777" y="55563"/>
                  <a:pt x="55563" y="57348"/>
                  <a:pt x="55563" y="59531"/>
                </a:cubicBezTo>
                <a:lnTo>
                  <a:pt x="55563" y="67469"/>
                </a:lnTo>
                <a:cubicBezTo>
                  <a:pt x="55563" y="69652"/>
                  <a:pt x="53777" y="71438"/>
                  <a:pt x="51594" y="71438"/>
                </a:cubicBezTo>
                <a:lnTo>
                  <a:pt x="43656" y="71438"/>
                </a:lnTo>
                <a:cubicBezTo>
                  <a:pt x="41473" y="71438"/>
                  <a:pt x="39688" y="69652"/>
                  <a:pt x="39688" y="67469"/>
                </a:cubicBezTo>
                <a:lnTo>
                  <a:pt x="39688" y="59531"/>
                </a:lnTo>
                <a:close/>
                <a:moveTo>
                  <a:pt x="43656" y="79375"/>
                </a:moveTo>
                <a:lnTo>
                  <a:pt x="99219" y="79375"/>
                </a:lnTo>
                <a:cubicBezTo>
                  <a:pt x="101402" y="79375"/>
                  <a:pt x="103188" y="81161"/>
                  <a:pt x="103188" y="83344"/>
                </a:cubicBezTo>
                <a:lnTo>
                  <a:pt x="103188" y="91281"/>
                </a:lnTo>
                <a:cubicBezTo>
                  <a:pt x="103188" y="93464"/>
                  <a:pt x="101402" y="95250"/>
                  <a:pt x="99219" y="95250"/>
                </a:cubicBezTo>
                <a:lnTo>
                  <a:pt x="43656" y="95250"/>
                </a:lnTo>
                <a:cubicBezTo>
                  <a:pt x="41473" y="95250"/>
                  <a:pt x="39688" y="93464"/>
                  <a:pt x="39688" y="91281"/>
                </a:cubicBezTo>
                <a:lnTo>
                  <a:pt x="39688" y="83344"/>
                </a:lnTo>
                <a:cubicBezTo>
                  <a:pt x="39688" y="81161"/>
                  <a:pt x="41473" y="79375"/>
                  <a:pt x="43656" y="79375"/>
                </a:cubicBezTo>
                <a:close/>
                <a:moveTo>
                  <a:pt x="63500" y="35719"/>
                </a:moveTo>
                <a:cubicBezTo>
                  <a:pt x="63500" y="33536"/>
                  <a:pt x="65286" y="31750"/>
                  <a:pt x="67469" y="31750"/>
                </a:cubicBezTo>
                <a:lnTo>
                  <a:pt x="75406" y="31750"/>
                </a:lnTo>
                <a:cubicBezTo>
                  <a:pt x="77589" y="31750"/>
                  <a:pt x="79375" y="33536"/>
                  <a:pt x="79375" y="35719"/>
                </a:cubicBezTo>
                <a:lnTo>
                  <a:pt x="79375" y="43656"/>
                </a:lnTo>
                <a:cubicBezTo>
                  <a:pt x="79375" y="45839"/>
                  <a:pt x="77589" y="47625"/>
                  <a:pt x="75406" y="47625"/>
                </a:cubicBezTo>
                <a:lnTo>
                  <a:pt x="67469" y="47625"/>
                </a:lnTo>
                <a:cubicBezTo>
                  <a:pt x="65286" y="47625"/>
                  <a:pt x="63500" y="45839"/>
                  <a:pt x="63500" y="43656"/>
                </a:cubicBezTo>
                <a:lnTo>
                  <a:pt x="63500" y="35719"/>
                </a:lnTo>
                <a:close/>
                <a:moveTo>
                  <a:pt x="67469" y="55563"/>
                </a:moveTo>
                <a:lnTo>
                  <a:pt x="75406" y="55563"/>
                </a:lnTo>
                <a:cubicBezTo>
                  <a:pt x="77589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77589" y="71438"/>
                  <a:pt x="75406" y="71438"/>
                </a:cubicBezTo>
                <a:lnTo>
                  <a:pt x="67469" y="71438"/>
                </a:lnTo>
                <a:cubicBezTo>
                  <a:pt x="65286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5286" y="55563"/>
                  <a:pt x="67469" y="55563"/>
                </a:cubicBezTo>
                <a:close/>
                <a:moveTo>
                  <a:pt x="87313" y="35719"/>
                </a:moveTo>
                <a:cubicBezTo>
                  <a:pt x="87313" y="33536"/>
                  <a:pt x="89098" y="31750"/>
                  <a:pt x="91281" y="31750"/>
                </a:cubicBezTo>
                <a:lnTo>
                  <a:pt x="99219" y="31750"/>
                </a:lnTo>
                <a:cubicBezTo>
                  <a:pt x="101402" y="31750"/>
                  <a:pt x="103188" y="33536"/>
                  <a:pt x="103188" y="35719"/>
                </a:cubicBezTo>
                <a:lnTo>
                  <a:pt x="103188" y="43656"/>
                </a:lnTo>
                <a:cubicBezTo>
                  <a:pt x="103188" y="45839"/>
                  <a:pt x="101402" y="47625"/>
                  <a:pt x="99219" y="47625"/>
                </a:cubicBezTo>
                <a:lnTo>
                  <a:pt x="91281" y="47625"/>
                </a:lnTo>
                <a:cubicBezTo>
                  <a:pt x="89098" y="47625"/>
                  <a:pt x="87313" y="45839"/>
                  <a:pt x="87313" y="43656"/>
                </a:cubicBezTo>
                <a:lnTo>
                  <a:pt x="87313" y="35719"/>
                </a:lnTo>
                <a:close/>
                <a:moveTo>
                  <a:pt x="91281" y="55563"/>
                </a:moveTo>
                <a:lnTo>
                  <a:pt x="99219" y="55563"/>
                </a:lnTo>
                <a:cubicBezTo>
                  <a:pt x="101402" y="55563"/>
                  <a:pt x="103188" y="57348"/>
                  <a:pt x="103188" y="59531"/>
                </a:cubicBezTo>
                <a:lnTo>
                  <a:pt x="103188" y="67469"/>
                </a:lnTo>
                <a:cubicBezTo>
                  <a:pt x="103188" y="69652"/>
                  <a:pt x="101402" y="71438"/>
                  <a:pt x="99219" y="71438"/>
                </a:cubicBezTo>
                <a:lnTo>
                  <a:pt x="91281" y="71438"/>
                </a:lnTo>
                <a:cubicBezTo>
                  <a:pt x="89098" y="71438"/>
                  <a:pt x="87313" y="69652"/>
                  <a:pt x="87313" y="67469"/>
                </a:cubicBezTo>
                <a:lnTo>
                  <a:pt x="87313" y="59531"/>
                </a:lnTo>
                <a:cubicBezTo>
                  <a:pt x="87313" y="57348"/>
                  <a:pt x="89098" y="55563"/>
                  <a:pt x="91281" y="55563"/>
                </a:cubicBezTo>
                <a:close/>
                <a:moveTo>
                  <a:pt x="111125" y="35719"/>
                </a:moveTo>
                <a:cubicBezTo>
                  <a:pt x="111125" y="33536"/>
                  <a:pt x="112911" y="31750"/>
                  <a:pt x="115094" y="31750"/>
                </a:cubicBezTo>
                <a:lnTo>
                  <a:pt x="123031" y="31750"/>
                </a:lnTo>
                <a:cubicBezTo>
                  <a:pt x="125214" y="31750"/>
                  <a:pt x="127000" y="33536"/>
                  <a:pt x="127000" y="35719"/>
                </a:cubicBezTo>
                <a:lnTo>
                  <a:pt x="127000" y="43656"/>
                </a:lnTo>
                <a:cubicBezTo>
                  <a:pt x="127000" y="45839"/>
                  <a:pt x="125214" y="47625"/>
                  <a:pt x="123031" y="47625"/>
                </a:cubicBezTo>
                <a:lnTo>
                  <a:pt x="115094" y="47625"/>
                </a:lnTo>
                <a:cubicBezTo>
                  <a:pt x="112911" y="47625"/>
                  <a:pt x="111125" y="45839"/>
                  <a:pt x="111125" y="43656"/>
                </a:cubicBezTo>
                <a:lnTo>
                  <a:pt x="111125" y="35719"/>
                </a:lnTo>
                <a:close/>
                <a:moveTo>
                  <a:pt x="115094" y="55563"/>
                </a:moveTo>
                <a:lnTo>
                  <a:pt x="123031" y="55563"/>
                </a:lnTo>
                <a:cubicBezTo>
                  <a:pt x="125214" y="55563"/>
                  <a:pt x="127000" y="57348"/>
                  <a:pt x="127000" y="59531"/>
                </a:cubicBezTo>
                <a:lnTo>
                  <a:pt x="127000" y="67469"/>
                </a:lnTo>
                <a:cubicBezTo>
                  <a:pt x="127000" y="69652"/>
                  <a:pt x="125214" y="71438"/>
                  <a:pt x="123031" y="71438"/>
                </a:cubicBezTo>
                <a:lnTo>
                  <a:pt x="115094" y="71438"/>
                </a:lnTo>
                <a:cubicBezTo>
                  <a:pt x="112911" y="71438"/>
                  <a:pt x="111125" y="69652"/>
                  <a:pt x="111125" y="67469"/>
                </a:cubicBezTo>
                <a:lnTo>
                  <a:pt x="111125" y="59531"/>
                </a:lnTo>
                <a:cubicBezTo>
                  <a:pt x="111125" y="57348"/>
                  <a:pt x="112911" y="55563"/>
                  <a:pt x="115094" y="555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958850" y="20383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Entry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8850" y="23241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input across multiple systems, spreadsheets, and databases—hours of repetitive typing, copying, and pasting that could be automated in seconds.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" y="2895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3413" y="29591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33052" y="-6524"/>
                </a:moveTo>
                <a:cubicBezTo>
                  <a:pt x="135483" y="-7392"/>
                  <a:pt x="138162" y="-6772"/>
                  <a:pt x="139998" y="-4961"/>
                </a:cubicBezTo>
                <a:cubicBezTo>
                  <a:pt x="141833" y="-3150"/>
                  <a:pt x="142429" y="-446"/>
                  <a:pt x="141560" y="1984"/>
                </a:cubicBezTo>
                <a:lnTo>
                  <a:pt x="97408" y="125239"/>
                </a:lnTo>
                <a:cubicBezTo>
                  <a:pt x="96168" y="128687"/>
                  <a:pt x="92918" y="130969"/>
                  <a:pt x="89272" y="130969"/>
                </a:cubicBezTo>
                <a:cubicBezTo>
                  <a:pt x="85750" y="130969"/>
                  <a:pt x="82575" y="128836"/>
                  <a:pt x="81260" y="125586"/>
                </a:cubicBezTo>
                <a:lnTo>
                  <a:pt x="65336" y="86395"/>
                </a:lnTo>
                <a:cubicBezTo>
                  <a:pt x="64219" y="83666"/>
                  <a:pt x="64715" y="80541"/>
                  <a:pt x="66625" y="78308"/>
                </a:cubicBezTo>
                <a:lnTo>
                  <a:pt x="90066" y="50428"/>
                </a:lnTo>
                <a:cubicBezTo>
                  <a:pt x="91331" y="48915"/>
                  <a:pt x="91232" y="46707"/>
                  <a:pt x="89843" y="45318"/>
                </a:cubicBezTo>
                <a:cubicBezTo>
                  <a:pt x="88454" y="43929"/>
                  <a:pt x="86221" y="43830"/>
                  <a:pt x="84733" y="45095"/>
                </a:cubicBezTo>
                <a:lnTo>
                  <a:pt x="56852" y="68486"/>
                </a:lnTo>
                <a:cubicBezTo>
                  <a:pt x="54595" y="70371"/>
                  <a:pt x="51495" y="70867"/>
                  <a:pt x="48766" y="69776"/>
                </a:cubicBezTo>
                <a:lnTo>
                  <a:pt x="9451" y="53777"/>
                </a:lnTo>
                <a:cubicBezTo>
                  <a:pt x="6201" y="52462"/>
                  <a:pt x="4068" y="49287"/>
                  <a:pt x="4068" y="45765"/>
                </a:cubicBezTo>
                <a:cubicBezTo>
                  <a:pt x="4068" y="42118"/>
                  <a:pt x="6350" y="38869"/>
                  <a:pt x="9798" y="37629"/>
                </a:cubicBezTo>
                <a:lnTo>
                  <a:pt x="133052" y="-652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58850" y="28638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Follow-ups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8850" y="31496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Sending emails, reminders, and status updates manually—repetitive communication that drains productivity and delays responses.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" y="3721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1350" y="37846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58850" y="36893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8850" y="39751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Chasing managers for sign-offs, routing documents, waiting for decisions—bottlenecks that stall progress across departments.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" y="454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1350" y="46101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58850" y="45148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8850" y="48006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Pulling numbers, building spreadsheets, creating presentations—manual reporting that consumes hours every week.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4425" y="1146175"/>
            <a:ext cx="5673725" cy="4324350"/>
          </a:xfrm>
          <a:custGeom>
            <a:avLst/>
            <a:gdLst/>
            <a:ahLst/>
            <a:cxnLst/>
            <a:rect l="l" t="t" r="r" b="b"/>
            <a:pathLst>
              <a:path w="5673725" h="4324350">
                <a:moveTo>
                  <a:pt x="127006" y="0"/>
                </a:moveTo>
                <a:lnTo>
                  <a:pt x="5546719" y="0"/>
                </a:lnTo>
                <a:cubicBezTo>
                  <a:pt x="5616862" y="0"/>
                  <a:pt x="5673725" y="56863"/>
                  <a:pt x="5673725" y="127006"/>
                </a:cubicBezTo>
                <a:lnTo>
                  <a:pt x="5673725" y="4197344"/>
                </a:lnTo>
                <a:cubicBezTo>
                  <a:pt x="5673725" y="4267487"/>
                  <a:pt x="5616862" y="4324350"/>
                  <a:pt x="5546719" y="4324350"/>
                </a:cubicBezTo>
                <a:lnTo>
                  <a:pt x="127006" y="4324350"/>
                </a:lnTo>
                <a:cubicBezTo>
                  <a:pt x="56863" y="4324350"/>
                  <a:pt x="0" y="4267487"/>
                  <a:pt x="0" y="4197344"/>
                </a:cubicBezTo>
                <a:lnTo>
                  <a:pt x="0" y="127006"/>
                </a:lnTo>
                <a:cubicBezTo>
                  <a:pt x="0" y="56910"/>
                  <a:pt x="56910" y="0"/>
                  <a:pt x="12700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5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016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1600" y="14033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614319" y="153035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991350" y="148272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1600" y="207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30975" y="21336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938" y="0"/>
                </a:moveTo>
                <a:cubicBezTo>
                  <a:pt x="3547" y="0"/>
                  <a:pt x="0" y="3547"/>
                  <a:pt x="0" y="7938"/>
                </a:cubicBezTo>
                <a:cubicBezTo>
                  <a:pt x="0" y="12328"/>
                  <a:pt x="3547" y="15875"/>
                  <a:pt x="7938" y="15875"/>
                </a:cubicBezTo>
                <a:lnTo>
                  <a:pt x="7938" y="18604"/>
                </a:lnTo>
                <a:cubicBezTo>
                  <a:pt x="7938" y="29121"/>
                  <a:pt x="12129" y="39216"/>
                  <a:pt x="19571" y="46658"/>
                </a:cubicBezTo>
                <a:lnTo>
                  <a:pt x="36413" y="63500"/>
                </a:lnTo>
                <a:lnTo>
                  <a:pt x="19571" y="80342"/>
                </a:lnTo>
                <a:cubicBezTo>
                  <a:pt x="12129" y="87784"/>
                  <a:pt x="7938" y="97879"/>
                  <a:pt x="7938" y="108396"/>
                </a:cubicBezTo>
                <a:lnTo>
                  <a:pt x="7938" y="111125"/>
                </a:lnTo>
                <a:cubicBezTo>
                  <a:pt x="3547" y="111125"/>
                  <a:pt x="0" y="114672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87313" y="127000"/>
                </a:lnTo>
                <a:cubicBezTo>
                  <a:pt x="91703" y="127000"/>
                  <a:pt x="95250" y="123453"/>
                  <a:pt x="95250" y="119063"/>
                </a:cubicBezTo>
                <a:cubicBezTo>
                  <a:pt x="95250" y="114672"/>
                  <a:pt x="91703" y="111125"/>
                  <a:pt x="87313" y="111125"/>
                </a:cubicBezTo>
                <a:lnTo>
                  <a:pt x="87313" y="108396"/>
                </a:lnTo>
                <a:cubicBezTo>
                  <a:pt x="87313" y="97879"/>
                  <a:pt x="83121" y="87784"/>
                  <a:pt x="75679" y="80342"/>
                </a:cubicBezTo>
                <a:lnTo>
                  <a:pt x="58837" y="63500"/>
                </a:lnTo>
                <a:lnTo>
                  <a:pt x="75679" y="46658"/>
                </a:lnTo>
                <a:cubicBezTo>
                  <a:pt x="83121" y="39216"/>
                  <a:pt x="87313" y="29121"/>
                  <a:pt x="87313" y="18604"/>
                </a:cubicBezTo>
                <a:lnTo>
                  <a:pt x="87313" y="15875"/>
                </a:lnTo>
                <a:cubicBezTo>
                  <a:pt x="91703" y="15875"/>
                  <a:pt x="95250" y="12328"/>
                  <a:pt x="95250" y="7937"/>
                </a:cubicBezTo>
                <a:cubicBezTo>
                  <a:pt x="95250" y="3547"/>
                  <a:pt x="91703" y="0"/>
                  <a:pt x="87313" y="0"/>
                </a:cubicBezTo>
                <a:lnTo>
                  <a:pt x="7938" y="0"/>
                </a:lnTo>
                <a:close/>
                <a:moveTo>
                  <a:pt x="23812" y="18604"/>
                </a:moveTo>
                <a:lnTo>
                  <a:pt x="23812" y="15875"/>
                </a:lnTo>
                <a:lnTo>
                  <a:pt x="71438" y="15875"/>
                </a:lnTo>
                <a:lnTo>
                  <a:pt x="71438" y="18604"/>
                </a:lnTo>
                <a:cubicBezTo>
                  <a:pt x="71438" y="23316"/>
                  <a:pt x="70048" y="27880"/>
                  <a:pt x="67469" y="31750"/>
                </a:cubicBezTo>
                <a:lnTo>
                  <a:pt x="27781" y="31750"/>
                </a:lnTo>
                <a:cubicBezTo>
                  <a:pt x="25226" y="27880"/>
                  <a:pt x="23812" y="23316"/>
                  <a:pt x="23812" y="18604"/>
                </a:cubicBezTo>
                <a:close/>
                <a:moveTo>
                  <a:pt x="27781" y="95250"/>
                </a:moveTo>
                <a:cubicBezTo>
                  <a:pt x="28649" y="93935"/>
                  <a:pt x="29666" y="92695"/>
                  <a:pt x="30783" y="91554"/>
                </a:cubicBezTo>
                <a:lnTo>
                  <a:pt x="47625" y="74712"/>
                </a:lnTo>
                <a:lnTo>
                  <a:pt x="64467" y="91554"/>
                </a:lnTo>
                <a:cubicBezTo>
                  <a:pt x="65608" y="92695"/>
                  <a:pt x="66601" y="93935"/>
                  <a:pt x="67494" y="95250"/>
                </a:cubicBezTo>
                <a:lnTo>
                  <a:pt x="27781" y="95250"/>
                </a:ln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32" name="Text 30"/>
          <p:cNvSpPr/>
          <p:nvPr/>
        </p:nvSpPr>
        <p:spPr>
          <a:xfrm>
            <a:off x="6832600" y="20383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Operations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2600" y="23241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that should take minutes take hours. Teams waste time waiting for information, approvals, or manual handoffs.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1600" y="2895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15100" y="29591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36" name="Text 34"/>
          <p:cNvSpPr/>
          <p:nvPr/>
        </p:nvSpPr>
        <p:spPr>
          <a:xfrm>
            <a:off x="6832600" y="28638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Missed Revenue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32600" y="31496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Leads fall through cracks, invoices get delayed, upsell opportunities are forgotten—lost revenue from slow manual processes.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1600" y="3721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99225" y="3784600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40" name="Text 38"/>
          <p:cNvSpPr/>
          <p:nvPr/>
        </p:nvSpPr>
        <p:spPr>
          <a:xfrm>
            <a:off x="6832600" y="36893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Headcount Costs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32600" y="39751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more people to handle manual tasks that could be automated—inflating payroll for non-strategic work.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51600" y="454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15100" y="46101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44" name="Text 42"/>
          <p:cNvSpPr/>
          <p:nvPr/>
        </p:nvSpPr>
        <p:spPr>
          <a:xfrm>
            <a:off x="6832600" y="4514850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Error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32600" y="4800600"/>
            <a:ext cx="4841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Typos, missed steps, incorrect data—costly mistakes that require rework and damage customer trust.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17500" y="5632450"/>
            <a:ext cx="11557000" cy="992188"/>
          </a:xfrm>
          <a:custGeom>
            <a:avLst/>
            <a:gdLst/>
            <a:ahLst/>
            <a:cxnLst/>
            <a:rect l="l" t="t" r="r" b="b"/>
            <a:pathLst>
              <a:path w="11557000" h="992188">
                <a:moveTo>
                  <a:pt x="127000" y="0"/>
                </a:moveTo>
                <a:lnTo>
                  <a:pt x="11430000" y="0"/>
                </a:lnTo>
                <a:cubicBezTo>
                  <a:pt x="11500093" y="0"/>
                  <a:pt x="11557000" y="56907"/>
                  <a:pt x="11557000" y="127000"/>
                </a:cubicBezTo>
                <a:lnTo>
                  <a:pt x="11557000" y="865188"/>
                </a:lnTo>
                <a:cubicBezTo>
                  <a:pt x="11557000" y="935281"/>
                  <a:pt x="11500093" y="992188"/>
                  <a:pt x="11430000" y="992188"/>
                </a:cubicBezTo>
                <a:lnTo>
                  <a:pt x="127000" y="992188"/>
                </a:lnTo>
                <a:cubicBezTo>
                  <a:pt x="56907" y="992188"/>
                  <a:pt x="0" y="935281"/>
                  <a:pt x="0" y="865188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198438" dist="158750" dir="540000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8000" y="587255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4688" y="600749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136224" y="178594"/>
                </a:moveTo>
                <a:cubicBezTo>
                  <a:pt x="139619" y="168222"/>
                  <a:pt x="146410" y="158828"/>
                  <a:pt x="154084" y="150735"/>
                </a:cubicBezTo>
                <a:cubicBezTo>
                  <a:pt x="169292" y="134736"/>
                  <a:pt x="178594" y="113109"/>
                  <a:pt x="178594" y="89297"/>
                </a:cubicBezTo>
                <a:cubicBezTo>
                  <a:pt x="178594" y="39998"/>
                  <a:pt x="138596" y="0"/>
                  <a:pt x="89297" y="0"/>
                </a:cubicBezTo>
                <a:cubicBezTo>
                  <a:pt x="39998" y="0"/>
                  <a:pt x="0" y="39998"/>
                  <a:pt x="0" y="89297"/>
                </a:cubicBezTo>
                <a:cubicBezTo>
                  <a:pt x="0" y="113109"/>
                  <a:pt x="9302" y="134736"/>
                  <a:pt x="24510" y="150735"/>
                </a:cubicBezTo>
                <a:cubicBezTo>
                  <a:pt x="32184" y="158828"/>
                  <a:pt x="39021" y="168222"/>
                  <a:pt x="42370" y="178594"/>
                </a:cubicBezTo>
                <a:lnTo>
                  <a:pt x="136178" y="178594"/>
                </a:lnTo>
                <a:close/>
                <a:moveTo>
                  <a:pt x="133945" y="200918"/>
                </a:moveTo>
                <a:lnTo>
                  <a:pt x="44648" y="200918"/>
                </a:lnTo>
                <a:lnTo>
                  <a:pt x="44648" y="208359"/>
                </a:lnTo>
                <a:cubicBezTo>
                  <a:pt x="44648" y="228916"/>
                  <a:pt x="61299" y="245566"/>
                  <a:pt x="81855" y="245566"/>
                </a:cubicBezTo>
                <a:lnTo>
                  <a:pt x="96738" y="245566"/>
                </a:lnTo>
                <a:cubicBezTo>
                  <a:pt x="117295" y="245566"/>
                  <a:pt x="133945" y="228916"/>
                  <a:pt x="133945" y="208359"/>
                </a:cubicBezTo>
                <a:lnTo>
                  <a:pt x="133945" y="200918"/>
                </a:lnTo>
                <a:close/>
                <a:moveTo>
                  <a:pt x="85576" y="52090"/>
                </a:moveTo>
                <a:cubicBezTo>
                  <a:pt x="67066" y="52090"/>
                  <a:pt x="52090" y="67066"/>
                  <a:pt x="52090" y="85576"/>
                </a:cubicBezTo>
                <a:cubicBezTo>
                  <a:pt x="52090" y="91762"/>
                  <a:pt x="47113" y="96738"/>
                  <a:pt x="40928" y="96738"/>
                </a:cubicBezTo>
                <a:cubicBezTo>
                  <a:pt x="34742" y="96738"/>
                  <a:pt x="29766" y="91762"/>
                  <a:pt x="29766" y="85576"/>
                </a:cubicBezTo>
                <a:cubicBezTo>
                  <a:pt x="29766" y="54741"/>
                  <a:pt x="54741" y="29766"/>
                  <a:pt x="85576" y="29766"/>
                </a:cubicBezTo>
                <a:cubicBezTo>
                  <a:pt x="91762" y="29766"/>
                  <a:pt x="96738" y="34742"/>
                  <a:pt x="96738" y="40928"/>
                </a:cubicBezTo>
                <a:cubicBezTo>
                  <a:pt x="96738" y="47113"/>
                  <a:pt x="91762" y="52090"/>
                  <a:pt x="85576" y="520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174750" y="5822950"/>
            <a:ext cx="8524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Automate the Workflow, Not Just the Task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74750" y="6172200"/>
            <a:ext cx="848518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patching individual tasks. Transform entire workflows with connected systems that eliminate bottlenecks end-to-end.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716" y="563575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9646" y="657504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85307" y="1908"/>
                </a:moveTo>
                <a:cubicBezTo>
                  <a:pt x="90774" y="-624"/>
                  <a:pt x="97085" y="-624"/>
                  <a:pt x="102552" y="1908"/>
                </a:cubicBezTo>
                <a:lnTo>
                  <a:pt x="182758" y="38966"/>
                </a:lnTo>
                <a:cubicBezTo>
                  <a:pt x="185877" y="40397"/>
                  <a:pt x="187858" y="43516"/>
                  <a:pt x="187858" y="46965"/>
                </a:cubicBezTo>
                <a:cubicBezTo>
                  <a:pt x="187858" y="50414"/>
                  <a:pt x="185877" y="53532"/>
                  <a:pt x="182758" y="54963"/>
                </a:cubicBezTo>
                <a:lnTo>
                  <a:pt x="102552" y="92021"/>
                </a:lnTo>
                <a:cubicBezTo>
                  <a:pt x="97085" y="94553"/>
                  <a:pt x="90774" y="94553"/>
                  <a:pt x="85307" y="92021"/>
                </a:cubicBezTo>
                <a:lnTo>
                  <a:pt x="5100" y="54963"/>
                </a:lnTo>
                <a:cubicBezTo>
                  <a:pt x="1981" y="53496"/>
                  <a:pt x="0" y="50377"/>
                  <a:pt x="0" y="46965"/>
                </a:cubicBezTo>
                <a:cubicBezTo>
                  <a:pt x="0" y="43552"/>
                  <a:pt x="1981" y="40397"/>
                  <a:pt x="5100" y="38966"/>
                </a:cubicBezTo>
                <a:lnTo>
                  <a:pt x="85307" y="1908"/>
                </a:lnTo>
                <a:close/>
                <a:moveTo>
                  <a:pt x="17648" y="80133"/>
                </a:moveTo>
                <a:lnTo>
                  <a:pt x="77932" y="107982"/>
                </a:lnTo>
                <a:cubicBezTo>
                  <a:pt x="88095" y="112678"/>
                  <a:pt x="99800" y="112678"/>
                  <a:pt x="109963" y="107982"/>
                </a:cubicBezTo>
                <a:lnTo>
                  <a:pt x="170247" y="80133"/>
                </a:lnTo>
                <a:lnTo>
                  <a:pt x="182758" y="85930"/>
                </a:lnTo>
                <a:cubicBezTo>
                  <a:pt x="185877" y="87361"/>
                  <a:pt x="187858" y="90480"/>
                  <a:pt x="187858" y="93929"/>
                </a:cubicBezTo>
                <a:cubicBezTo>
                  <a:pt x="187858" y="97378"/>
                  <a:pt x="185877" y="100497"/>
                  <a:pt x="182758" y="101928"/>
                </a:cubicBezTo>
                <a:lnTo>
                  <a:pt x="102552" y="138986"/>
                </a:lnTo>
                <a:cubicBezTo>
                  <a:pt x="97085" y="141517"/>
                  <a:pt x="90774" y="141517"/>
                  <a:pt x="85307" y="138986"/>
                </a:cubicBezTo>
                <a:lnTo>
                  <a:pt x="5100" y="101928"/>
                </a:lnTo>
                <a:cubicBezTo>
                  <a:pt x="1981" y="100460"/>
                  <a:pt x="0" y="97341"/>
                  <a:pt x="0" y="93929"/>
                </a:cubicBezTo>
                <a:cubicBezTo>
                  <a:pt x="0" y="90517"/>
                  <a:pt x="1981" y="87361"/>
                  <a:pt x="5100" y="85930"/>
                </a:cubicBezTo>
                <a:lnTo>
                  <a:pt x="17612" y="80133"/>
                </a:lnTo>
                <a:close/>
                <a:moveTo>
                  <a:pt x="5100" y="132895"/>
                </a:moveTo>
                <a:lnTo>
                  <a:pt x="17612" y="127098"/>
                </a:lnTo>
                <a:lnTo>
                  <a:pt x="77895" y="154946"/>
                </a:lnTo>
                <a:cubicBezTo>
                  <a:pt x="88059" y="159643"/>
                  <a:pt x="99763" y="159643"/>
                  <a:pt x="109926" y="154946"/>
                </a:cubicBezTo>
                <a:lnTo>
                  <a:pt x="170210" y="127098"/>
                </a:lnTo>
                <a:lnTo>
                  <a:pt x="182721" y="132895"/>
                </a:lnTo>
                <a:cubicBezTo>
                  <a:pt x="185840" y="134326"/>
                  <a:pt x="187822" y="137445"/>
                  <a:pt x="187822" y="140894"/>
                </a:cubicBezTo>
                <a:cubicBezTo>
                  <a:pt x="187822" y="144343"/>
                  <a:pt x="185840" y="147461"/>
                  <a:pt x="182721" y="148892"/>
                </a:cubicBezTo>
                <a:lnTo>
                  <a:pt x="102515" y="185950"/>
                </a:lnTo>
                <a:cubicBezTo>
                  <a:pt x="97048" y="188482"/>
                  <a:pt x="90737" y="188482"/>
                  <a:pt x="85270" y="185950"/>
                </a:cubicBezTo>
                <a:lnTo>
                  <a:pt x="5100" y="148892"/>
                </a:lnTo>
                <a:cubicBezTo>
                  <a:pt x="1981" y="147425"/>
                  <a:pt x="0" y="144306"/>
                  <a:pt x="0" y="140894"/>
                </a:cubicBezTo>
                <a:cubicBezTo>
                  <a:pt x="0" y="137481"/>
                  <a:pt x="1981" y="134326"/>
                  <a:pt x="5100" y="13289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64148" y="375716"/>
            <a:ext cx="5955106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1A2E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Overview — 3 Pillars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4148" y="864148"/>
            <a:ext cx="581421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automation solutions tailored to your business needs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474" y="1243622"/>
            <a:ext cx="3708322" cy="4290682"/>
          </a:xfrm>
          <a:custGeom>
            <a:avLst/>
            <a:gdLst/>
            <a:ahLst/>
            <a:cxnLst/>
            <a:rect l="l" t="t" r="r" b="b"/>
            <a:pathLst>
              <a:path w="3708322" h="4290682">
                <a:moveTo>
                  <a:pt x="150298" y="0"/>
                </a:moveTo>
                <a:lnTo>
                  <a:pt x="3558023" y="0"/>
                </a:lnTo>
                <a:cubicBezTo>
                  <a:pt x="3641031" y="0"/>
                  <a:pt x="3708322" y="67291"/>
                  <a:pt x="3708322" y="150298"/>
                </a:cubicBezTo>
                <a:lnTo>
                  <a:pt x="3708322" y="4140384"/>
                </a:lnTo>
                <a:cubicBezTo>
                  <a:pt x="3708322" y="4223391"/>
                  <a:pt x="3641031" y="4290682"/>
                  <a:pt x="3558023" y="4290682"/>
                </a:cubicBezTo>
                <a:lnTo>
                  <a:pt x="150298" y="4290682"/>
                </a:lnTo>
                <a:cubicBezTo>
                  <a:pt x="67291" y="4290682"/>
                  <a:pt x="0" y="4223391"/>
                  <a:pt x="0" y="4140384"/>
                </a:cubicBezTo>
                <a:lnTo>
                  <a:pt x="0" y="150298"/>
                </a:lnTo>
                <a:cubicBezTo>
                  <a:pt x="0" y="67346"/>
                  <a:pt x="67346" y="0"/>
                  <a:pt x="1502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0B981">
                <a:alpha val="30196"/>
              </a:srgbClr>
            </a:solidFill>
            <a:prstDash val="solid"/>
          </a:ln>
          <a:effectLst>
            <a:outerShdw sx="100000" sy="100000" kx="0" ky="0" algn="bl" rotWithShape="0" blurRad="234823" dist="187858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089" y="1435236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150287" y="0"/>
                </a:moveTo>
                <a:lnTo>
                  <a:pt x="450860" y="0"/>
                </a:lnTo>
                <a:cubicBezTo>
                  <a:pt x="533861" y="0"/>
                  <a:pt x="601146" y="67286"/>
                  <a:pt x="601146" y="150287"/>
                </a:cubicBezTo>
                <a:lnTo>
                  <a:pt x="601146" y="450860"/>
                </a:lnTo>
                <a:cubicBezTo>
                  <a:pt x="601146" y="533861"/>
                  <a:pt x="533861" y="601146"/>
                  <a:pt x="450860" y="601146"/>
                </a:cubicBezTo>
                <a:lnTo>
                  <a:pt x="150287" y="601146"/>
                </a:lnTo>
                <a:cubicBezTo>
                  <a:pt x="67286" y="601146"/>
                  <a:pt x="0" y="533861"/>
                  <a:pt x="0" y="450860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33117" y="1594917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66044" y="30820"/>
                </a:moveTo>
                <a:cubicBezTo>
                  <a:pt x="66044" y="13814"/>
                  <a:pt x="79858" y="0"/>
                  <a:pt x="96864" y="0"/>
                </a:cubicBezTo>
                <a:lnTo>
                  <a:pt x="110073" y="0"/>
                </a:lnTo>
                <a:cubicBezTo>
                  <a:pt x="119815" y="0"/>
                  <a:pt x="127685" y="7870"/>
                  <a:pt x="127685" y="17612"/>
                </a:cubicBezTo>
                <a:lnTo>
                  <a:pt x="127685" y="264176"/>
                </a:lnTo>
                <a:cubicBezTo>
                  <a:pt x="127685" y="273917"/>
                  <a:pt x="119815" y="281787"/>
                  <a:pt x="110073" y="281787"/>
                </a:cubicBezTo>
                <a:lnTo>
                  <a:pt x="92461" y="281787"/>
                </a:lnTo>
                <a:cubicBezTo>
                  <a:pt x="76061" y="281787"/>
                  <a:pt x="62246" y="270560"/>
                  <a:pt x="58339" y="255370"/>
                </a:cubicBezTo>
                <a:cubicBezTo>
                  <a:pt x="57954" y="255370"/>
                  <a:pt x="57623" y="255370"/>
                  <a:pt x="57238" y="255370"/>
                </a:cubicBezTo>
                <a:cubicBezTo>
                  <a:pt x="32912" y="255370"/>
                  <a:pt x="13209" y="235667"/>
                  <a:pt x="13209" y="211341"/>
                </a:cubicBezTo>
                <a:cubicBezTo>
                  <a:pt x="13209" y="201434"/>
                  <a:pt x="16511" y="192298"/>
                  <a:pt x="22015" y="184923"/>
                </a:cubicBezTo>
                <a:cubicBezTo>
                  <a:pt x="11338" y="176888"/>
                  <a:pt x="4403" y="164119"/>
                  <a:pt x="4403" y="149700"/>
                </a:cubicBezTo>
                <a:cubicBezTo>
                  <a:pt x="4403" y="132693"/>
                  <a:pt x="14089" y="117888"/>
                  <a:pt x="28179" y="110569"/>
                </a:cubicBezTo>
                <a:cubicBezTo>
                  <a:pt x="24271" y="103964"/>
                  <a:pt x="22015" y="96259"/>
                  <a:pt x="22015" y="88059"/>
                </a:cubicBezTo>
                <a:cubicBezTo>
                  <a:pt x="22015" y="63732"/>
                  <a:pt x="41718" y="44029"/>
                  <a:pt x="66044" y="44029"/>
                </a:cubicBezTo>
                <a:lnTo>
                  <a:pt x="66044" y="30820"/>
                </a:lnTo>
                <a:close/>
                <a:moveTo>
                  <a:pt x="215743" y="30820"/>
                </a:moveTo>
                <a:lnTo>
                  <a:pt x="215743" y="44029"/>
                </a:lnTo>
                <a:cubicBezTo>
                  <a:pt x="240070" y="44029"/>
                  <a:pt x="259773" y="63732"/>
                  <a:pt x="259773" y="88059"/>
                </a:cubicBezTo>
                <a:cubicBezTo>
                  <a:pt x="259773" y="96314"/>
                  <a:pt x="257516" y="104019"/>
                  <a:pt x="253609" y="110569"/>
                </a:cubicBezTo>
                <a:cubicBezTo>
                  <a:pt x="267753" y="117888"/>
                  <a:pt x="277384" y="132638"/>
                  <a:pt x="277384" y="149700"/>
                </a:cubicBezTo>
                <a:cubicBezTo>
                  <a:pt x="277384" y="164119"/>
                  <a:pt x="270450" y="176888"/>
                  <a:pt x="259773" y="184923"/>
                </a:cubicBezTo>
                <a:cubicBezTo>
                  <a:pt x="265276" y="192298"/>
                  <a:pt x="268579" y="201434"/>
                  <a:pt x="268579" y="211341"/>
                </a:cubicBezTo>
                <a:cubicBezTo>
                  <a:pt x="268579" y="235667"/>
                  <a:pt x="248875" y="255370"/>
                  <a:pt x="224549" y="255370"/>
                </a:cubicBezTo>
                <a:cubicBezTo>
                  <a:pt x="224164" y="255370"/>
                  <a:pt x="223834" y="255370"/>
                  <a:pt x="223449" y="255370"/>
                </a:cubicBezTo>
                <a:cubicBezTo>
                  <a:pt x="219541" y="270560"/>
                  <a:pt x="205727" y="281787"/>
                  <a:pt x="189326" y="281787"/>
                </a:cubicBezTo>
                <a:lnTo>
                  <a:pt x="171714" y="281787"/>
                </a:lnTo>
                <a:cubicBezTo>
                  <a:pt x="161973" y="281787"/>
                  <a:pt x="154102" y="273917"/>
                  <a:pt x="154102" y="264176"/>
                </a:cubicBezTo>
                <a:lnTo>
                  <a:pt x="154102" y="17612"/>
                </a:lnTo>
                <a:cubicBezTo>
                  <a:pt x="154102" y="7870"/>
                  <a:pt x="161973" y="0"/>
                  <a:pt x="171714" y="0"/>
                </a:cubicBezTo>
                <a:lnTo>
                  <a:pt x="184923" y="0"/>
                </a:lnTo>
                <a:cubicBezTo>
                  <a:pt x="201929" y="0"/>
                  <a:pt x="215743" y="13814"/>
                  <a:pt x="215743" y="308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84950" y="1435354"/>
            <a:ext cx="1437116" cy="60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089" y="2111527"/>
            <a:ext cx="3400234" cy="732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agents and integrations that learn, decide, and act—automating complex decisions and reducing manual intervention.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571" y="2975675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918627" y="2956889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&amp; Decision Engines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8627" y="3219891"/>
            <a:ext cx="3052696" cy="61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agents that route tickets, approve requests, and prioritize leads based on your rules.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571" y="3933752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18627" y="3914966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627" y="4177968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info, classify emails, and automate responses from unstructured text.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571" y="4685185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18627" y="4666399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627" y="4929401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demand, identify churn risks, and spot opportunities automatically.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2309" y="1243622"/>
            <a:ext cx="3708322" cy="4290682"/>
          </a:xfrm>
          <a:custGeom>
            <a:avLst/>
            <a:gdLst/>
            <a:ahLst/>
            <a:cxnLst/>
            <a:rect l="l" t="t" r="r" b="b"/>
            <a:pathLst>
              <a:path w="3708322" h="4290682">
                <a:moveTo>
                  <a:pt x="150298" y="0"/>
                </a:moveTo>
                <a:lnTo>
                  <a:pt x="3558023" y="0"/>
                </a:lnTo>
                <a:cubicBezTo>
                  <a:pt x="3641031" y="0"/>
                  <a:pt x="3708322" y="67291"/>
                  <a:pt x="3708322" y="150298"/>
                </a:cubicBezTo>
                <a:lnTo>
                  <a:pt x="3708322" y="4140384"/>
                </a:lnTo>
                <a:cubicBezTo>
                  <a:pt x="3708322" y="4223391"/>
                  <a:pt x="3641031" y="4290682"/>
                  <a:pt x="3558023" y="4290682"/>
                </a:cubicBezTo>
                <a:lnTo>
                  <a:pt x="150298" y="4290682"/>
                </a:lnTo>
                <a:cubicBezTo>
                  <a:pt x="67291" y="4290682"/>
                  <a:pt x="0" y="4223391"/>
                  <a:pt x="0" y="4140384"/>
                </a:cubicBezTo>
                <a:lnTo>
                  <a:pt x="0" y="150298"/>
                </a:lnTo>
                <a:cubicBezTo>
                  <a:pt x="0" y="67346"/>
                  <a:pt x="67346" y="0"/>
                  <a:pt x="1502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E4A">
                <a:alpha val="30196"/>
              </a:srgbClr>
            </a:solidFill>
            <a:prstDash val="solid"/>
          </a:ln>
          <a:effectLst>
            <a:outerShdw sx="100000" sy="100000" kx="0" ky="0" algn="bl" rotWithShape="0" blurRad="234823" dist="187858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3924" y="1435236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150287" y="0"/>
                </a:moveTo>
                <a:lnTo>
                  <a:pt x="450860" y="0"/>
                </a:lnTo>
                <a:cubicBezTo>
                  <a:pt x="533861" y="0"/>
                  <a:pt x="601146" y="67286"/>
                  <a:pt x="601146" y="150287"/>
                </a:cubicBezTo>
                <a:lnTo>
                  <a:pt x="601146" y="450860"/>
                </a:lnTo>
                <a:cubicBezTo>
                  <a:pt x="601146" y="533861"/>
                  <a:pt x="533861" y="601146"/>
                  <a:pt x="450860" y="601146"/>
                </a:cubicBezTo>
                <a:lnTo>
                  <a:pt x="150287" y="601146"/>
                </a:lnTo>
                <a:cubicBezTo>
                  <a:pt x="67286" y="601146"/>
                  <a:pt x="0" y="533861"/>
                  <a:pt x="0" y="450860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gradFill rotWithShape="1" flip="none">
            <a:gsLst>
              <a:gs pos="0">
                <a:srgbClr val="1A2E4A"/>
              </a:gs>
              <a:gs pos="100000">
                <a:srgbClr val="1A2E4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595952" y="1594917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156304" y="-715"/>
                </a:moveTo>
                <a:cubicBezTo>
                  <a:pt x="146783" y="-6219"/>
                  <a:pt x="135005" y="-6219"/>
                  <a:pt x="125483" y="-715"/>
                </a:cubicBezTo>
                <a:lnTo>
                  <a:pt x="79143" y="26032"/>
                </a:lnTo>
                <a:cubicBezTo>
                  <a:pt x="69621" y="31536"/>
                  <a:pt x="63732" y="41718"/>
                  <a:pt x="63732" y="52725"/>
                </a:cubicBezTo>
                <a:lnTo>
                  <a:pt x="63732" y="108807"/>
                </a:lnTo>
                <a:lnTo>
                  <a:pt x="15135" y="136876"/>
                </a:lnTo>
                <a:cubicBezTo>
                  <a:pt x="5614" y="142380"/>
                  <a:pt x="-275" y="152561"/>
                  <a:pt x="-275" y="163569"/>
                </a:cubicBezTo>
                <a:lnTo>
                  <a:pt x="-275" y="217119"/>
                </a:lnTo>
                <a:cubicBezTo>
                  <a:pt x="-275" y="228127"/>
                  <a:pt x="5614" y="238308"/>
                  <a:pt x="15135" y="243812"/>
                </a:cubicBezTo>
                <a:lnTo>
                  <a:pt x="61531" y="270560"/>
                </a:lnTo>
                <a:cubicBezTo>
                  <a:pt x="71052" y="276064"/>
                  <a:pt x="82830" y="276064"/>
                  <a:pt x="92351" y="270560"/>
                </a:cubicBezTo>
                <a:lnTo>
                  <a:pt x="140949" y="242491"/>
                </a:lnTo>
                <a:lnTo>
                  <a:pt x="189546" y="270560"/>
                </a:lnTo>
                <a:cubicBezTo>
                  <a:pt x="199067" y="276064"/>
                  <a:pt x="210845" y="276064"/>
                  <a:pt x="220367" y="270560"/>
                </a:cubicBezTo>
                <a:lnTo>
                  <a:pt x="266652" y="243812"/>
                </a:lnTo>
                <a:cubicBezTo>
                  <a:pt x="276174" y="238308"/>
                  <a:pt x="282063" y="228127"/>
                  <a:pt x="282063" y="217119"/>
                </a:cubicBezTo>
                <a:lnTo>
                  <a:pt x="282063" y="163569"/>
                </a:lnTo>
                <a:cubicBezTo>
                  <a:pt x="282063" y="152561"/>
                  <a:pt x="276174" y="142380"/>
                  <a:pt x="266652" y="136876"/>
                </a:cubicBezTo>
                <a:lnTo>
                  <a:pt x="218055" y="108807"/>
                </a:lnTo>
                <a:lnTo>
                  <a:pt x="218055" y="52725"/>
                </a:lnTo>
                <a:cubicBezTo>
                  <a:pt x="218055" y="41718"/>
                  <a:pt x="212166" y="31536"/>
                  <a:pt x="202645" y="26032"/>
                </a:cubicBezTo>
                <a:lnTo>
                  <a:pt x="156304" y="-715"/>
                </a:lnTo>
                <a:close/>
                <a:moveTo>
                  <a:pt x="127685" y="161037"/>
                </a:moveTo>
                <a:lnTo>
                  <a:pt x="127685" y="219651"/>
                </a:lnTo>
                <a:lnTo>
                  <a:pt x="79088" y="247720"/>
                </a:lnTo>
                <a:cubicBezTo>
                  <a:pt x="78427" y="248105"/>
                  <a:pt x="77657" y="248325"/>
                  <a:pt x="76886" y="248325"/>
                </a:cubicBezTo>
                <a:lnTo>
                  <a:pt x="76886" y="190372"/>
                </a:lnTo>
                <a:lnTo>
                  <a:pt x="127685" y="161037"/>
                </a:lnTo>
                <a:close/>
                <a:moveTo>
                  <a:pt x="255040" y="161367"/>
                </a:moveTo>
                <a:cubicBezTo>
                  <a:pt x="255425" y="162028"/>
                  <a:pt x="255645" y="162798"/>
                  <a:pt x="255645" y="163569"/>
                </a:cubicBezTo>
                <a:lnTo>
                  <a:pt x="255645" y="217119"/>
                </a:lnTo>
                <a:cubicBezTo>
                  <a:pt x="255645" y="218715"/>
                  <a:pt x="254819" y="220146"/>
                  <a:pt x="253444" y="220917"/>
                </a:cubicBezTo>
                <a:lnTo>
                  <a:pt x="207048" y="247665"/>
                </a:lnTo>
                <a:cubicBezTo>
                  <a:pt x="206387" y="248050"/>
                  <a:pt x="205617" y="248270"/>
                  <a:pt x="204846" y="248270"/>
                </a:cubicBezTo>
                <a:lnTo>
                  <a:pt x="204846" y="190317"/>
                </a:lnTo>
                <a:lnTo>
                  <a:pt x="255040" y="161367"/>
                </a:lnTo>
                <a:close/>
                <a:moveTo>
                  <a:pt x="191692" y="52725"/>
                </a:moveTo>
                <a:lnTo>
                  <a:pt x="191692" y="108807"/>
                </a:lnTo>
                <a:lnTo>
                  <a:pt x="140894" y="138142"/>
                </a:lnTo>
                <a:lnTo>
                  <a:pt x="140894" y="79528"/>
                </a:lnTo>
                <a:lnTo>
                  <a:pt x="191087" y="50579"/>
                </a:lnTo>
                <a:cubicBezTo>
                  <a:pt x="191472" y="51239"/>
                  <a:pt x="191692" y="52010"/>
                  <a:pt x="191692" y="527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47785" y="1435354"/>
            <a:ext cx="1484080" cy="60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 SaaS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Modules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3924" y="2111527"/>
            <a:ext cx="3400234" cy="732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Bespoke internal tools and portals that centralize data, streamline operations, and give teams a single source of truth.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7407" y="2975675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81462" y="2956889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Web Portals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81462" y="3219891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hubs for HR, ops, and admin—custom-built to match your workflows.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7407" y="3727108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781462" y="3708322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Dashboards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81462" y="3971324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KPI tracking with alerts, so you can monitor performance and respond instantly.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57407" y="4478541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781462" y="4459755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&amp; Config Panels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81462" y="4722757"/>
            <a:ext cx="3052696" cy="61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Self-service tools to manage users, permissions, and system settings without code.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5261" y="1243622"/>
            <a:ext cx="3708322" cy="4290682"/>
          </a:xfrm>
          <a:custGeom>
            <a:avLst/>
            <a:gdLst/>
            <a:ahLst/>
            <a:cxnLst/>
            <a:rect l="l" t="t" r="r" b="b"/>
            <a:pathLst>
              <a:path w="3708322" h="4290682">
                <a:moveTo>
                  <a:pt x="150298" y="0"/>
                </a:moveTo>
                <a:lnTo>
                  <a:pt x="3558023" y="0"/>
                </a:lnTo>
                <a:cubicBezTo>
                  <a:pt x="3641031" y="0"/>
                  <a:pt x="3708322" y="67291"/>
                  <a:pt x="3708322" y="150298"/>
                </a:cubicBezTo>
                <a:lnTo>
                  <a:pt x="3708322" y="4140384"/>
                </a:lnTo>
                <a:cubicBezTo>
                  <a:pt x="3708322" y="4223391"/>
                  <a:pt x="3641031" y="4290682"/>
                  <a:pt x="3558023" y="4290682"/>
                </a:cubicBezTo>
                <a:lnTo>
                  <a:pt x="150298" y="4290682"/>
                </a:lnTo>
                <a:cubicBezTo>
                  <a:pt x="67291" y="4290682"/>
                  <a:pt x="0" y="4223391"/>
                  <a:pt x="0" y="4140384"/>
                </a:cubicBezTo>
                <a:lnTo>
                  <a:pt x="0" y="150298"/>
                </a:lnTo>
                <a:cubicBezTo>
                  <a:pt x="0" y="67346"/>
                  <a:pt x="67346" y="0"/>
                  <a:pt x="1502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  <a:effectLst>
            <a:outerShdw sx="100000" sy="100000" kx="0" ky="0" algn="bl" rotWithShape="0" blurRad="234823" dist="187858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6877" y="1435236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150287" y="0"/>
                </a:moveTo>
                <a:lnTo>
                  <a:pt x="450860" y="0"/>
                </a:lnTo>
                <a:cubicBezTo>
                  <a:pt x="533861" y="0"/>
                  <a:pt x="601146" y="67286"/>
                  <a:pt x="601146" y="150287"/>
                </a:cubicBezTo>
                <a:lnTo>
                  <a:pt x="601146" y="450860"/>
                </a:lnTo>
                <a:cubicBezTo>
                  <a:pt x="601146" y="533861"/>
                  <a:pt x="533861" y="601146"/>
                  <a:pt x="450860" y="601146"/>
                </a:cubicBezTo>
                <a:lnTo>
                  <a:pt x="150287" y="601146"/>
                </a:lnTo>
                <a:cubicBezTo>
                  <a:pt x="67286" y="601146"/>
                  <a:pt x="0" y="533861"/>
                  <a:pt x="0" y="450860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gradFill rotWithShape="1" flip="none">
            <a:gsLst>
              <a:gs pos="0">
                <a:srgbClr val="6B7280"/>
              </a:gs>
              <a:gs pos="100000">
                <a:srgbClr val="6B728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8458904" y="1594917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70447" y="176117"/>
                </a:moveTo>
                <a:lnTo>
                  <a:pt x="13484" y="176117"/>
                </a:lnTo>
                <a:cubicBezTo>
                  <a:pt x="-220" y="176117"/>
                  <a:pt x="-8641" y="161202"/>
                  <a:pt x="-1596" y="149424"/>
                </a:cubicBezTo>
                <a:lnTo>
                  <a:pt x="27518" y="100882"/>
                </a:lnTo>
                <a:cubicBezTo>
                  <a:pt x="32306" y="92902"/>
                  <a:pt x="40892" y="88059"/>
                  <a:pt x="50193" y="88059"/>
                </a:cubicBezTo>
                <a:lnTo>
                  <a:pt x="102478" y="88059"/>
                </a:lnTo>
                <a:cubicBezTo>
                  <a:pt x="144361" y="17116"/>
                  <a:pt x="206828" y="13539"/>
                  <a:pt x="248600" y="19648"/>
                </a:cubicBezTo>
                <a:cubicBezTo>
                  <a:pt x="255645" y="20694"/>
                  <a:pt x="261149" y="26197"/>
                  <a:pt x="262139" y="33187"/>
                </a:cubicBezTo>
                <a:cubicBezTo>
                  <a:pt x="268248" y="74960"/>
                  <a:pt x="264671" y="137426"/>
                  <a:pt x="193729" y="179309"/>
                </a:cubicBezTo>
                <a:lnTo>
                  <a:pt x="193729" y="231594"/>
                </a:lnTo>
                <a:cubicBezTo>
                  <a:pt x="193729" y="240895"/>
                  <a:pt x="188886" y="249481"/>
                  <a:pt x="180905" y="254269"/>
                </a:cubicBezTo>
                <a:lnTo>
                  <a:pt x="132363" y="283383"/>
                </a:lnTo>
                <a:cubicBezTo>
                  <a:pt x="120640" y="290428"/>
                  <a:pt x="105670" y="281952"/>
                  <a:pt x="105670" y="268303"/>
                </a:cubicBezTo>
                <a:lnTo>
                  <a:pt x="105670" y="211341"/>
                </a:lnTo>
                <a:cubicBezTo>
                  <a:pt x="105670" y="191913"/>
                  <a:pt x="89875" y="176117"/>
                  <a:pt x="70447" y="176117"/>
                </a:cubicBezTo>
                <a:lnTo>
                  <a:pt x="70392" y="176117"/>
                </a:lnTo>
                <a:close/>
                <a:moveTo>
                  <a:pt x="220146" y="88059"/>
                </a:moveTo>
                <a:cubicBezTo>
                  <a:pt x="220146" y="73478"/>
                  <a:pt x="208309" y="61641"/>
                  <a:pt x="193729" y="61641"/>
                </a:cubicBezTo>
                <a:cubicBezTo>
                  <a:pt x="179149" y="61641"/>
                  <a:pt x="167311" y="73478"/>
                  <a:pt x="167311" y="88059"/>
                </a:cubicBezTo>
                <a:cubicBezTo>
                  <a:pt x="167311" y="102639"/>
                  <a:pt x="179149" y="114476"/>
                  <a:pt x="193729" y="114476"/>
                </a:cubicBezTo>
                <a:cubicBezTo>
                  <a:pt x="208309" y="114476"/>
                  <a:pt x="220146" y="102639"/>
                  <a:pt x="220146" y="880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010738" y="1435354"/>
            <a:ext cx="2028869" cy="60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High-Performance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Web/Mobile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6877" y="2111527"/>
            <a:ext cx="3400234" cy="732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secure, and scalable frontends that deliver exceptional user experiences across all devices and platforms.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20359" y="2975675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644414" y="2956889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Web Apps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44414" y="3219891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Installable apps that work offline and load instantly—bridging web and mobile.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20359" y="3727108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8644414" y="3708322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Portals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44414" y="3971324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White-label portals for customers to track status, pay invoices, and access docs.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20359" y="4478541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8644414" y="4459755"/>
            <a:ext cx="305269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Landing Pages &amp; Sites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44414" y="4722757"/>
            <a:ext cx="3052696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High-converting pages built for speed, SEO, and lead generation out of the box.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5716" y="5650777"/>
            <a:ext cx="11440567" cy="826576"/>
          </a:xfrm>
          <a:custGeom>
            <a:avLst/>
            <a:gdLst/>
            <a:ahLst/>
            <a:cxnLst/>
            <a:rect l="l" t="t" r="r" b="b"/>
            <a:pathLst>
              <a:path w="11440567" h="826576">
                <a:moveTo>
                  <a:pt x="150288" y="0"/>
                </a:moveTo>
                <a:lnTo>
                  <a:pt x="11290279" y="0"/>
                </a:lnTo>
                <a:cubicBezTo>
                  <a:pt x="11373225" y="0"/>
                  <a:pt x="11440567" y="67342"/>
                  <a:pt x="11440567" y="150288"/>
                </a:cubicBezTo>
                <a:lnTo>
                  <a:pt x="11440567" y="676288"/>
                </a:lnTo>
                <a:cubicBezTo>
                  <a:pt x="11440567" y="759234"/>
                  <a:pt x="11373225" y="826576"/>
                  <a:pt x="11290279" y="826576"/>
                </a:cubicBezTo>
                <a:lnTo>
                  <a:pt x="150288" y="826576"/>
                </a:lnTo>
                <a:cubicBezTo>
                  <a:pt x="67342" y="826576"/>
                  <a:pt x="0" y="759234"/>
                  <a:pt x="0" y="676288"/>
                </a:cubicBezTo>
                <a:lnTo>
                  <a:pt x="0" y="150288"/>
                </a:lnTo>
                <a:cubicBezTo>
                  <a:pt x="0" y="67342"/>
                  <a:pt x="67342" y="0"/>
                  <a:pt x="150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1A2E4A"/>
              </a:gs>
              <a:gs pos="100000">
                <a:srgbClr val="1A2E4A">
                  <a:alpha val="9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234823" dist="187858" dir="540000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26003" y="5801063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112717" y="0"/>
                </a:moveTo>
                <a:lnTo>
                  <a:pt x="413286" y="0"/>
                </a:lnTo>
                <a:cubicBezTo>
                  <a:pt x="475538" y="0"/>
                  <a:pt x="526003" y="50465"/>
                  <a:pt x="526003" y="112717"/>
                </a:cubicBezTo>
                <a:lnTo>
                  <a:pt x="526003" y="413286"/>
                </a:lnTo>
                <a:cubicBezTo>
                  <a:pt x="526003" y="475538"/>
                  <a:pt x="475538" y="526003"/>
                  <a:pt x="413286" y="526003"/>
                </a:cubicBezTo>
                <a:lnTo>
                  <a:pt x="112717" y="526003"/>
                </a:lnTo>
                <a:cubicBezTo>
                  <a:pt x="50465" y="526003"/>
                  <a:pt x="0" y="475538"/>
                  <a:pt x="0" y="413286"/>
                </a:cubicBezTo>
                <a:lnTo>
                  <a:pt x="0" y="112717"/>
                </a:lnTo>
                <a:cubicBezTo>
                  <a:pt x="0" y="50507"/>
                  <a:pt x="50507" y="0"/>
                  <a:pt x="11271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Shape 48"/>
          <p:cNvSpPr/>
          <p:nvPr/>
        </p:nvSpPr>
        <p:spPr>
          <a:xfrm>
            <a:off x="648111" y="5951350"/>
            <a:ext cx="281787" cy="225430"/>
          </a:xfrm>
          <a:custGeom>
            <a:avLst/>
            <a:gdLst/>
            <a:ahLst/>
            <a:cxnLst/>
            <a:rect l="l" t="t" r="r" b="b"/>
            <a:pathLst>
              <a:path w="281787" h="225430">
                <a:moveTo>
                  <a:pt x="0" y="112715"/>
                </a:moveTo>
                <a:cubicBezTo>
                  <a:pt x="0" y="73793"/>
                  <a:pt x="31525" y="42268"/>
                  <a:pt x="70447" y="42268"/>
                </a:cubicBezTo>
                <a:cubicBezTo>
                  <a:pt x="92638" y="42268"/>
                  <a:pt x="113507" y="52703"/>
                  <a:pt x="126804" y="70447"/>
                </a:cubicBezTo>
                <a:lnTo>
                  <a:pt x="140894" y="89247"/>
                </a:lnTo>
                <a:lnTo>
                  <a:pt x="154983" y="70447"/>
                </a:lnTo>
                <a:cubicBezTo>
                  <a:pt x="168280" y="52703"/>
                  <a:pt x="189150" y="42268"/>
                  <a:pt x="211341" y="42268"/>
                </a:cubicBezTo>
                <a:cubicBezTo>
                  <a:pt x="250262" y="42268"/>
                  <a:pt x="281787" y="73793"/>
                  <a:pt x="281787" y="112715"/>
                </a:cubicBezTo>
                <a:cubicBezTo>
                  <a:pt x="281787" y="151637"/>
                  <a:pt x="250262" y="183162"/>
                  <a:pt x="211341" y="183162"/>
                </a:cubicBezTo>
                <a:cubicBezTo>
                  <a:pt x="189150" y="183162"/>
                  <a:pt x="168280" y="172727"/>
                  <a:pt x="154983" y="154983"/>
                </a:cubicBezTo>
                <a:lnTo>
                  <a:pt x="140894" y="136183"/>
                </a:lnTo>
                <a:lnTo>
                  <a:pt x="126804" y="154983"/>
                </a:lnTo>
                <a:cubicBezTo>
                  <a:pt x="113507" y="172727"/>
                  <a:pt x="92638" y="183162"/>
                  <a:pt x="70447" y="183162"/>
                </a:cubicBezTo>
                <a:cubicBezTo>
                  <a:pt x="31525" y="183162"/>
                  <a:pt x="0" y="151637"/>
                  <a:pt x="0" y="112715"/>
                </a:cubicBezTo>
                <a:close/>
                <a:moveTo>
                  <a:pt x="123282" y="112715"/>
                </a:moveTo>
                <a:lnTo>
                  <a:pt x="104261" y="87354"/>
                </a:lnTo>
                <a:cubicBezTo>
                  <a:pt x="96292" y="76699"/>
                  <a:pt x="83744" y="70447"/>
                  <a:pt x="70447" y="70447"/>
                </a:cubicBezTo>
                <a:cubicBezTo>
                  <a:pt x="47111" y="70447"/>
                  <a:pt x="28179" y="89379"/>
                  <a:pt x="28179" y="112715"/>
                </a:cubicBezTo>
                <a:cubicBezTo>
                  <a:pt x="28179" y="136050"/>
                  <a:pt x="47111" y="154983"/>
                  <a:pt x="70447" y="154983"/>
                </a:cubicBezTo>
                <a:cubicBezTo>
                  <a:pt x="83744" y="154983"/>
                  <a:pt x="96292" y="148731"/>
                  <a:pt x="104261" y="138076"/>
                </a:cubicBezTo>
                <a:lnTo>
                  <a:pt x="123282" y="112715"/>
                </a:lnTo>
                <a:close/>
                <a:moveTo>
                  <a:pt x="158505" y="112715"/>
                </a:moveTo>
                <a:lnTo>
                  <a:pt x="177526" y="138076"/>
                </a:lnTo>
                <a:cubicBezTo>
                  <a:pt x="185495" y="148731"/>
                  <a:pt x="198044" y="154983"/>
                  <a:pt x="211341" y="154983"/>
                </a:cubicBezTo>
                <a:cubicBezTo>
                  <a:pt x="234676" y="154983"/>
                  <a:pt x="253609" y="136050"/>
                  <a:pt x="253609" y="112715"/>
                </a:cubicBezTo>
                <a:cubicBezTo>
                  <a:pt x="253609" y="89379"/>
                  <a:pt x="234676" y="70447"/>
                  <a:pt x="211341" y="70447"/>
                </a:cubicBezTo>
                <a:cubicBezTo>
                  <a:pt x="198044" y="70447"/>
                  <a:pt x="185495" y="76699"/>
                  <a:pt x="177526" y="87354"/>
                </a:cubicBezTo>
                <a:lnTo>
                  <a:pt x="158505" y="11271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202293" y="5801063"/>
            <a:ext cx="9205054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All-In-One Integration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02293" y="6101637"/>
            <a:ext cx="9186268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 and match pillars to create a complete automation ecosystem—SaaS modules with AI agents, connected to high-performance frontends.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7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66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603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2E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Systems We Build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876300"/>
            <a:ext cx="589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Pre-packaged solutions that deliver immediate ROI—customized for your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61110"/>
            <a:ext cx="3722370" cy="1874520"/>
          </a:xfrm>
          <a:custGeom>
            <a:avLst/>
            <a:gdLst/>
            <a:ahLst/>
            <a:cxnLst/>
            <a:rect l="l" t="t" r="r" b="b"/>
            <a:pathLst>
              <a:path w="3722370" h="1874520">
                <a:moveTo>
                  <a:pt x="114308" y="0"/>
                </a:moveTo>
                <a:lnTo>
                  <a:pt x="3608062" y="0"/>
                </a:lnTo>
                <a:cubicBezTo>
                  <a:pt x="3671192" y="0"/>
                  <a:pt x="3722370" y="51178"/>
                  <a:pt x="3722370" y="114308"/>
                </a:cubicBezTo>
                <a:lnTo>
                  <a:pt x="3722370" y="1760212"/>
                </a:lnTo>
                <a:cubicBezTo>
                  <a:pt x="3722370" y="1823342"/>
                  <a:pt x="3671192" y="1874520"/>
                  <a:pt x="360806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0B981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10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464" y="15506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lnTo>
                  <a:pt x="101798" y="189235"/>
                </a:lnTo>
                <a:cubicBezTo>
                  <a:pt x="104849" y="190760"/>
                  <a:pt x="108458" y="190946"/>
                  <a:pt x="111696" y="189607"/>
                </a:cubicBezTo>
                <a:cubicBezTo>
                  <a:pt x="115081" y="188193"/>
                  <a:pt x="117574" y="185328"/>
                  <a:pt x="118579" y="181942"/>
                </a:cubicBezTo>
                <a:cubicBezTo>
                  <a:pt x="128401" y="194407"/>
                  <a:pt x="143619" y="202443"/>
                  <a:pt x="160734" y="202443"/>
                </a:cubicBezTo>
                <a:cubicBezTo>
                  <a:pt x="190314" y="202443"/>
                  <a:pt x="214313" y="178445"/>
                  <a:pt x="214313" y="148865"/>
                </a:cubicBezTo>
                <a:cubicBezTo>
                  <a:pt x="214313" y="119286"/>
                  <a:pt x="190314" y="95250"/>
                  <a:pt x="160734" y="95250"/>
                </a:cubicBezTo>
                <a:cubicBezTo>
                  <a:pt x="143917" y="95250"/>
                  <a:pt x="128885" y="103026"/>
                  <a:pt x="119063" y="115156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  <a:moveTo>
                  <a:pt x="154781" y="119063"/>
                </a:moveTo>
                <a:cubicBezTo>
                  <a:pt x="154781" y="115788"/>
                  <a:pt x="157460" y="113109"/>
                  <a:pt x="160734" y="113109"/>
                </a:cubicBezTo>
                <a:cubicBezTo>
                  <a:pt x="164009" y="113109"/>
                  <a:pt x="166688" y="115788"/>
                  <a:pt x="166688" y="119063"/>
                </a:cubicBezTo>
                <a:lnTo>
                  <a:pt x="166688" y="122039"/>
                </a:lnTo>
                <a:lnTo>
                  <a:pt x="172641" y="122039"/>
                </a:lnTo>
                <a:cubicBezTo>
                  <a:pt x="175915" y="122039"/>
                  <a:pt x="178594" y="124718"/>
                  <a:pt x="178594" y="127992"/>
                </a:cubicBezTo>
                <a:cubicBezTo>
                  <a:pt x="178594" y="131266"/>
                  <a:pt x="175915" y="133945"/>
                  <a:pt x="172641" y="133945"/>
                </a:cubicBezTo>
                <a:lnTo>
                  <a:pt x="155600" y="133945"/>
                </a:lnTo>
                <a:cubicBezTo>
                  <a:pt x="153516" y="133945"/>
                  <a:pt x="151805" y="135657"/>
                  <a:pt x="151805" y="137740"/>
                </a:cubicBezTo>
                <a:cubicBezTo>
                  <a:pt x="151805" y="139564"/>
                  <a:pt x="153107" y="141126"/>
                  <a:pt x="154893" y="141461"/>
                </a:cubicBezTo>
                <a:lnTo>
                  <a:pt x="171636" y="144512"/>
                </a:lnTo>
                <a:cubicBezTo>
                  <a:pt x="179077" y="145852"/>
                  <a:pt x="184510" y="152363"/>
                  <a:pt x="184510" y="159953"/>
                </a:cubicBezTo>
                <a:cubicBezTo>
                  <a:pt x="184510" y="168622"/>
                  <a:pt x="177478" y="175654"/>
                  <a:pt x="168808" y="175654"/>
                </a:cubicBezTo>
                <a:lnTo>
                  <a:pt x="166650" y="175654"/>
                </a:lnTo>
                <a:lnTo>
                  <a:pt x="166650" y="178631"/>
                </a:lnTo>
                <a:cubicBezTo>
                  <a:pt x="166650" y="181905"/>
                  <a:pt x="163971" y="184584"/>
                  <a:pt x="160697" y="184584"/>
                </a:cubicBezTo>
                <a:cubicBezTo>
                  <a:pt x="157423" y="184584"/>
                  <a:pt x="154744" y="181905"/>
                  <a:pt x="154744" y="178631"/>
                </a:cubicBezTo>
                <a:lnTo>
                  <a:pt x="154744" y="175654"/>
                </a:lnTo>
                <a:lnTo>
                  <a:pt x="148791" y="175654"/>
                </a:lnTo>
                <a:cubicBezTo>
                  <a:pt x="145517" y="175654"/>
                  <a:pt x="142838" y="172975"/>
                  <a:pt x="142838" y="169701"/>
                </a:cubicBezTo>
                <a:cubicBezTo>
                  <a:pt x="142838" y="166427"/>
                  <a:pt x="145517" y="163748"/>
                  <a:pt x="148791" y="163748"/>
                </a:cubicBezTo>
                <a:lnTo>
                  <a:pt x="168808" y="163748"/>
                </a:lnTo>
                <a:cubicBezTo>
                  <a:pt x="170892" y="163748"/>
                  <a:pt x="172603" y="162037"/>
                  <a:pt x="172603" y="159953"/>
                </a:cubicBezTo>
                <a:cubicBezTo>
                  <a:pt x="172603" y="158130"/>
                  <a:pt x="171301" y="156567"/>
                  <a:pt x="169515" y="156232"/>
                </a:cubicBezTo>
                <a:lnTo>
                  <a:pt x="152772" y="153181"/>
                </a:lnTo>
                <a:cubicBezTo>
                  <a:pt x="145331" y="151842"/>
                  <a:pt x="139898" y="145331"/>
                  <a:pt x="139898" y="137740"/>
                </a:cubicBezTo>
                <a:cubicBezTo>
                  <a:pt x="139898" y="129332"/>
                  <a:pt x="146484" y="122486"/>
                  <a:pt x="154781" y="122076"/>
                </a:cubicBezTo>
                <a:lnTo>
                  <a:pt x="154781" y="11906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112520" y="151257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Lead-to-CRM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1950720"/>
            <a:ext cx="3486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Auto-capture leads, enrich data, and route to your CRM with instant follow-ups. No leads slip through.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020" y="2484120"/>
            <a:ext cx="1019175" cy="266700"/>
          </a:xfrm>
          <a:custGeom>
            <a:avLst/>
            <a:gdLst/>
            <a:ahLst/>
            <a:cxnLst/>
            <a:rect l="l" t="t" r="r" b="b"/>
            <a:pathLst>
              <a:path w="1019175" h="266700">
                <a:moveTo>
                  <a:pt x="133350" y="0"/>
                </a:moveTo>
                <a:lnTo>
                  <a:pt x="885825" y="0"/>
                </a:lnTo>
                <a:cubicBezTo>
                  <a:pt x="959423" y="0"/>
                  <a:pt x="1019175" y="59752"/>
                  <a:pt x="1019175" y="133350"/>
                </a:cubicBezTo>
                <a:lnTo>
                  <a:pt x="1019175" y="133350"/>
                </a:lnTo>
                <a:cubicBezTo>
                  <a:pt x="1019175" y="206948"/>
                  <a:pt x="959423" y="266700"/>
                  <a:pt x="885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1020" y="2484120"/>
            <a:ext cx="10858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Capture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39014" y="2484120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133350" y="0"/>
                </a:moveTo>
                <a:lnTo>
                  <a:pt x="685800" y="0"/>
                </a:lnTo>
                <a:cubicBezTo>
                  <a:pt x="759398" y="0"/>
                  <a:pt x="819150" y="59752"/>
                  <a:pt x="819150" y="133350"/>
                </a:cubicBezTo>
                <a:lnTo>
                  <a:pt x="819150" y="133350"/>
                </a:lnTo>
                <a:cubicBezTo>
                  <a:pt x="819150" y="206948"/>
                  <a:pt x="759398" y="266700"/>
                  <a:pt x="6858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39014" y="2484120"/>
            <a:ext cx="8858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Sync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35912" y="2484120"/>
            <a:ext cx="1133475" cy="266700"/>
          </a:xfrm>
          <a:custGeom>
            <a:avLst/>
            <a:gdLst/>
            <a:ahLst/>
            <a:cxnLst/>
            <a:rect l="l" t="t" r="r" b="b"/>
            <a:pathLst>
              <a:path w="1133475" h="266700">
                <a:moveTo>
                  <a:pt x="133350" y="0"/>
                </a:moveTo>
                <a:lnTo>
                  <a:pt x="1000125" y="0"/>
                </a:lnTo>
                <a:cubicBezTo>
                  <a:pt x="1073723" y="0"/>
                  <a:pt x="1133475" y="59752"/>
                  <a:pt x="1133475" y="133350"/>
                </a:cubicBezTo>
                <a:lnTo>
                  <a:pt x="1133475" y="133350"/>
                </a:lnTo>
                <a:cubicBezTo>
                  <a:pt x="1133475" y="206948"/>
                  <a:pt x="1073723" y="266700"/>
                  <a:pt x="1000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35912" y="2484120"/>
            <a:ext cx="1200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Follow-up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32910" y="1261110"/>
            <a:ext cx="3722370" cy="1874520"/>
          </a:xfrm>
          <a:custGeom>
            <a:avLst/>
            <a:gdLst/>
            <a:ahLst/>
            <a:cxnLst/>
            <a:rect l="l" t="t" r="r" b="b"/>
            <a:pathLst>
              <a:path w="3722370" h="1874520">
                <a:moveTo>
                  <a:pt x="114308" y="0"/>
                </a:moveTo>
                <a:lnTo>
                  <a:pt x="3608062" y="0"/>
                </a:lnTo>
                <a:cubicBezTo>
                  <a:pt x="3671192" y="0"/>
                  <a:pt x="3722370" y="51178"/>
                  <a:pt x="3722370" y="114308"/>
                </a:cubicBezTo>
                <a:lnTo>
                  <a:pt x="3722370" y="1760212"/>
                </a:lnTo>
                <a:cubicBezTo>
                  <a:pt x="3722370" y="1823342"/>
                  <a:pt x="3671192" y="1874520"/>
                  <a:pt x="360806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E4A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34376" y="15506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23812"/>
                </a:moveTo>
                <a:cubicBezTo>
                  <a:pt x="53950" y="23812"/>
                  <a:pt x="29505" y="45132"/>
                  <a:pt x="24668" y="73186"/>
                </a:cubicBezTo>
                <a:cubicBezTo>
                  <a:pt x="28129" y="72070"/>
                  <a:pt x="31849" y="71438"/>
                  <a:pt x="35719" y="71438"/>
                </a:cubicBezTo>
                <a:lnTo>
                  <a:pt x="41672" y="71438"/>
                </a:lnTo>
                <a:cubicBezTo>
                  <a:pt x="51532" y="71438"/>
                  <a:pt x="59531" y="79437"/>
                  <a:pt x="59531" y="89297"/>
                </a:cubicBezTo>
                <a:lnTo>
                  <a:pt x="59531" y="125016"/>
                </a:lnTo>
                <a:cubicBezTo>
                  <a:pt x="59531" y="134875"/>
                  <a:pt x="51532" y="142875"/>
                  <a:pt x="41672" y="142875"/>
                </a:cubicBezTo>
                <a:lnTo>
                  <a:pt x="35719" y="142875"/>
                </a:lnTo>
                <a:cubicBezTo>
                  <a:pt x="15999" y="142875"/>
                  <a:pt x="0" y="126876"/>
                  <a:pt x="0" y="107156"/>
                </a:cubicBezTo>
                <a:lnTo>
                  <a:pt x="0" y="83344"/>
                </a:lnTo>
                <a:cubicBezTo>
                  <a:pt x="0" y="37319"/>
                  <a:pt x="37319" y="0"/>
                  <a:pt x="83344" y="0"/>
                </a:cubicBezTo>
                <a:cubicBezTo>
                  <a:pt x="129369" y="0"/>
                  <a:pt x="166688" y="37319"/>
                  <a:pt x="166688" y="83344"/>
                </a:cubicBezTo>
                <a:lnTo>
                  <a:pt x="166688" y="145889"/>
                </a:lnTo>
                <a:cubicBezTo>
                  <a:pt x="166688" y="170557"/>
                  <a:pt x="146670" y="190537"/>
                  <a:pt x="122002" y="190537"/>
                </a:cubicBezTo>
                <a:lnTo>
                  <a:pt x="89297" y="190500"/>
                </a:lnTo>
                <a:lnTo>
                  <a:pt x="77391" y="190500"/>
                </a:lnTo>
                <a:cubicBezTo>
                  <a:pt x="67531" y="190500"/>
                  <a:pt x="59531" y="182500"/>
                  <a:pt x="59531" y="172641"/>
                </a:cubicBezTo>
                <a:cubicBezTo>
                  <a:pt x="59531" y="162781"/>
                  <a:pt x="67531" y="154781"/>
                  <a:pt x="77391" y="154781"/>
                </a:cubicBezTo>
                <a:lnTo>
                  <a:pt x="89297" y="154781"/>
                </a:lnTo>
                <a:cubicBezTo>
                  <a:pt x="99157" y="154781"/>
                  <a:pt x="107156" y="162781"/>
                  <a:pt x="107156" y="172641"/>
                </a:cubicBezTo>
                <a:lnTo>
                  <a:pt x="107156" y="172641"/>
                </a:lnTo>
                <a:lnTo>
                  <a:pt x="122039" y="172641"/>
                </a:lnTo>
                <a:cubicBezTo>
                  <a:pt x="136847" y="172641"/>
                  <a:pt x="148828" y="160660"/>
                  <a:pt x="148828" y="145852"/>
                </a:cubicBezTo>
                <a:lnTo>
                  <a:pt x="148828" y="138075"/>
                </a:lnTo>
                <a:cubicBezTo>
                  <a:pt x="143582" y="141126"/>
                  <a:pt x="137480" y="142838"/>
                  <a:pt x="130969" y="142838"/>
                </a:cubicBezTo>
                <a:lnTo>
                  <a:pt x="125016" y="142838"/>
                </a:lnTo>
                <a:cubicBezTo>
                  <a:pt x="115156" y="142838"/>
                  <a:pt x="107156" y="134838"/>
                  <a:pt x="107156" y="124978"/>
                </a:cubicBezTo>
                <a:lnTo>
                  <a:pt x="107156" y="89260"/>
                </a:lnTo>
                <a:cubicBezTo>
                  <a:pt x="107156" y="79400"/>
                  <a:pt x="115156" y="71400"/>
                  <a:pt x="125016" y="71400"/>
                </a:cubicBezTo>
                <a:lnTo>
                  <a:pt x="130969" y="71400"/>
                </a:lnTo>
                <a:cubicBezTo>
                  <a:pt x="134838" y="71400"/>
                  <a:pt x="138522" y="71996"/>
                  <a:pt x="142019" y="73149"/>
                </a:cubicBezTo>
                <a:cubicBezTo>
                  <a:pt x="137182" y="45132"/>
                  <a:pt x="112775" y="23775"/>
                  <a:pt x="83344" y="23775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60620" y="1512570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Support Bot + Tickets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1950720"/>
            <a:ext cx="3486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answers FAQs, routes complex issues, and builds your knowledge base—slashing response times.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0" y="2484120"/>
            <a:ext cx="847725" cy="266700"/>
          </a:xfrm>
          <a:custGeom>
            <a:avLst/>
            <a:gdLst/>
            <a:ahLst/>
            <a:cxnLst/>
            <a:rect l="l" t="t" r="r" b="b"/>
            <a:pathLst>
              <a:path w="847725" h="266700">
                <a:moveTo>
                  <a:pt x="133350" y="0"/>
                </a:moveTo>
                <a:lnTo>
                  <a:pt x="714375" y="0"/>
                </a:lnTo>
                <a:cubicBezTo>
                  <a:pt x="787973" y="0"/>
                  <a:pt x="847725" y="59752"/>
                  <a:pt x="847725" y="133350"/>
                </a:cubicBezTo>
                <a:lnTo>
                  <a:pt x="847725" y="133350"/>
                </a:lnTo>
                <a:cubicBezTo>
                  <a:pt x="847725" y="206948"/>
                  <a:pt x="787973" y="266700"/>
                  <a:pt x="714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484120"/>
            <a:ext cx="914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8282" y="2484120"/>
            <a:ext cx="1047750" cy="266700"/>
          </a:xfrm>
          <a:custGeom>
            <a:avLst/>
            <a:gdLst/>
            <a:ahLst/>
            <a:cxnLst/>
            <a:rect l="l" t="t" r="r" b="b"/>
            <a:pathLst>
              <a:path w="1047750" h="266700">
                <a:moveTo>
                  <a:pt x="133350" y="0"/>
                </a:moveTo>
                <a:lnTo>
                  <a:pt x="914400" y="0"/>
                </a:lnTo>
                <a:cubicBezTo>
                  <a:pt x="987998" y="0"/>
                  <a:pt x="1047750" y="59752"/>
                  <a:pt x="1047750" y="133350"/>
                </a:cubicBezTo>
                <a:lnTo>
                  <a:pt x="1047750" y="133350"/>
                </a:lnTo>
                <a:cubicBezTo>
                  <a:pt x="1047750" y="206948"/>
                  <a:pt x="987998" y="266700"/>
                  <a:pt x="914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08282" y="2484120"/>
            <a:ext cx="1114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Routing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8542" y="2484120"/>
            <a:ext cx="1181100" cy="266700"/>
          </a:xfrm>
          <a:custGeom>
            <a:avLst/>
            <a:gdLst/>
            <a:ahLst/>
            <a:cxnLst/>
            <a:rect l="l" t="t" r="r" b="b"/>
            <a:pathLst>
              <a:path w="1181100" h="266700">
                <a:moveTo>
                  <a:pt x="133350" y="0"/>
                </a:moveTo>
                <a:lnTo>
                  <a:pt x="1047750" y="0"/>
                </a:lnTo>
                <a:cubicBezTo>
                  <a:pt x="1121348" y="0"/>
                  <a:pt x="1181100" y="59752"/>
                  <a:pt x="1181100" y="133350"/>
                </a:cubicBezTo>
                <a:lnTo>
                  <a:pt x="1181100" y="133350"/>
                </a:lnTo>
                <a:cubicBezTo>
                  <a:pt x="1181100" y="206948"/>
                  <a:pt x="1121348" y="266700"/>
                  <a:pt x="1047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28542" y="2484120"/>
            <a:ext cx="12477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81010" y="1261110"/>
            <a:ext cx="3722370" cy="1874520"/>
          </a:xfrm>
          <a:custGeom>
            <a:avLst/>
            <a:gdLst/>
            <a:ahLst/>
            <a:cxnLst/>
            <a:rect l="l" t="t" r="r" b="b"/>
            <a:pathLst>
              <a:path w="3722370" h="1874520">
                <a:moveTo>
                  <a:pt x="114308" y="0"/>
                </a:moveTo>
                <a:lnTo>
                  <a:pt x="3608062" y="0"/>
                </a:lnTo>
                <a:cubicBezTo>
                  <a:pt x="3671192" y="0"/>
                  <a:pt x="3722370" y="51178"/>
                  <a:pt x="3722370" y="114308"/>
                </a:cubicBezTo>
                <a:lnTo>
                  <a:pt x="3722370" y="1760212"/>
                </a:lnTo>
                <a:cubicBezTo>
                  <a:pt x="3722370" y="1823342"/>
                  <a:pt x="3671192" y="1874520"/>
                  <a:pt x="360806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372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94382" y="15506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8808720" y="151257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Ops Approvals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37220" y="1950720"/>
            <a:ext cx="3486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purchase orders, leave requests, vendor approvals, and employee onboarding with automated routing.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37220" y="2712720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133350" y="0"/>
                </a:moveTo>
                <a:lnTo>
                  <a:pt x="1057275" y="0"/>
                </a:lnTo>
                <a:cubicBezTo>
                  <a:pt x="1130873" y="0"/>
                  <a:pt x="1190625" y="59752"/>
                  <a:pt x="1190625" y="133350"/>
                </a:cubicBezTo>
                <a:lnTo>
                  <a:pt x="1190625" y="133350"/>
                </a:lnTo>
                <a:cubicBezTo>
                  <a:pt x="1190625" y="206948"/>
                  <a:pt x="1130873" y="266700"/>
                  <a:pt x="1057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37220" y="2712720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Orders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499402" y="2712720"/>
            <a:ext cx="1123950" cy="266700"/>
          </a:xfrm>
          <a:custGeom>
            <a:avLst/>
            <a:gdLst/>
            <a:ahLst/>
            <a:cxnLst/>
            <a:rect l="l" t="t" r="r" b="b"/>
            <a:pathLst>
              <a:path w="1123950" h="266700">
                <a:moveTo>
                  <a:pt x="133350" y="0"/>
                </a:moveTo>
                <a:lnTo>
                  <a:pt x="990600" y="0"/>
                </a:lnTo>
                <a:cubicBezTo>
                  <a:pt x="1064198" y="0"/>
                  <a:pt x="1123950" y="59752"/>
                  <a:pt x="1123950" y="133350"/>
                </a:cubicBezTo>
                <a:lnTo>
                  <a:pt x="1123950" y="133350"/>
                </a:lnTo>
                <a:cubicBezTo>
                  <a:pt x="1123950" y="206948"/>
                  <a:pt x="1064198" y="266700"/>
                  <a:pt x="990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499402" y="2712720"/>
            <a:ext cx="1190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 Requests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701338" y="2712720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701338" y="2712720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810" y="3257551"/>
            <a:ext cx="3722370" cy="1874520"/>
          </a:xfrm>
          <a:custGeom>
            <a:avLst/>
            <a:gdLst/>
            <a:ahLst/>
            <a:cxnLst/>
            <a:rect l="l" t="t" r="r" b="b"/>
            <a:pathLst>
              <a:path w="3722370" h="1874520">
                <a:moveTo>
                  <a:pt x="114308" y="0"/>
                </a:moveTo>
                <a:lnTo>
                  <a:pt x="3608062" y="0"/>
                </a:lnTo>
                <a:cubicBezTo>
                  <a:pt x="3671192" y="0"/>
                  <a:pt x="3722370" y="51178"/>
                  <a:pt x="3722370" y="114308"/>
                </a:cubicBezTo>
                <a:lnTo>
                  <a:pt x="3722370" y="1760212"/>
                </a:lnTo>
                <a:cubicBezTo>
                  <a:pt x="3722370" y="1823342"/>
                  <a:pt x="3671192" y="1874520"/>
                  <a:pt x="360806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0B981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1020" y="34137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98183" y="354711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23812" y="32742"/>
                </a:move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ubicBezTo>
                  <a:pt x="27794" y="23812"/>
                  <a:pt x="23812" y="27794"/>
                  <a:pt x="23812" y="32742"/>
                </a:cubicBezTo>
                <a:close/>
                <a:moveTo>
                  <a:pt x="23812" y="68461"/>
                </a:move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ubicBezTo>
                  <a:pt x="27794" y="59531"/>
                  <a:pt x="23812" y="63512"/>
                  <a:pt x="23812" y="68461"/>
                </a:cubicBezTo>
                <a:close/>
                <a:moveTo>
                  <a:pt x="65484" y="96738"/>
                </a:moveTo>
                <a:lnTo>
                  <a:pt x="65484" y="98227"/>
                </a:lnTo>
                <a:cubicBezTo>
                  <a:pt x="54769" y="98338"/>
                  <a:pt x="46137" y="107045"/>
                  <a:pt x="46137" y="117760"/>
                </a:cubicBezTo>
                <a:cubicBezTo>
                  <a:pt x="46137" y="127322"/>
                  <a:pt x="53020" y="135471"/>
                  <a:pt x="62471" y="137033"/>
                </a:cubicBezTo>
                <a:lnTo>
                  <a:pt x="77986" y="139638"/>
                </a:lnTo>
                <a:cubicBezTo>
                  <a:pt x="80218" y="140010"/>
                  <a:pt x="81855" y="141945"/>
                  <a:pt x="81855" y="144214"/>
                </a:cubicBezTo>
                <a:cubicBezTo>
                  <a:pt x="81855" y="146782"/>
                  <a:pt x="79772" y="148865"/>
                  <a:pt x="77205" y="148865"/>
                </a:cubicBezTo>
                <a:lnTo>
                  <a:pt x="56555" y="148828"/>
                </a:lnTo>
                <a:cubicBezTo>
                  <a:pt x="52462" y="148828"/>
                  <a:pt x="49113" y="152177"/>
                  <a:pt x="49113" y="156270"/>
                </a:cubicBezTo>
                <a:cubicBezTo>
                  <a:pt x="49113" y="160362"/>
                  <a:pt x="52462" y="163711"/>
                  <a:pt x="56555" y="163711"/>
                </a:cubicBezTo>
                <a:lnTo>
                  <a:pt x="65484" y="163711"/>
                </a:lnTo>
                <a:lnTo>
                  <a:pt x="65484" y="165199"/>
                </a:lnTo>
                <a:cubicBezTo>
                  <a:pt x="65484" y="169292"/>
                  <a:pt x="68833" y="172641"/>
                  <a:pt x="72926" y="172641"/>
                </a:cubicBezTo>
                <a:cubicBezTo>
                  <a:pt x="77019" y="172641"/>
                  <a:pt x="80367" y="169292"/>
                  <a:pt x="80367" y="165199"/>
                </a:cubicBezTo>
                <a:lnTo>
                  <a:pt x="80367" y="163450"/>
                </a:lnTo>
                <a:cubicBezTo>
                  <a:pt x="89669" y="161925"/>
                  <a:pt x="96738" y="153888"/>
                  <a:pt x="96738" y="144177"/>
                </a:cubicBezTo>
                <a:cubicBezTo>
                  <a:pt x="96738" y="134615"/>
                  <a:pt x="89855" y="126467"/>
                  <a:pt x="80404" y="124904"/>
                </a:cubicBezTo>
                <a:lnTo>
                  <a:pt x="64889" y="122300"/>
                </a:lnTo>
                <a:cubicBezTo>
                  <a:pt x="62657" y="121927"/>
                  <a:pt x="61020" y="119993"/>
                  <a:pt x="61020" y="117723"/>
                </a:cubicBezTo>
                <a:cubicBezTo>
                  <a:pt x="61020" y="115156"/>
                  <a:pt x="63103" y="113072"/>
                  <a:pt x="65670" y="113072"/>
                </a:cubicBezTo>
                <a:lnTo>
                  <a:pt x="83344" y="113072"/>
                </a:lnTo>
                <a:cubicBezTo>
                  <a:pt x="87437" y="113072"/>
                  <a:pt x="90785" y="109724"/>
                  <a:pt x="90785" y="105631"/>
                </a:cubicBezTo>
                <a:cubicBezTo>
                  <a:pt x="90785" y="101538"/>
                  <a:pt x="87437" y="98189"/>
                  <a:pt x="83344" y="98189"/>
                </a:cubicBezTo>
                <a:lnTo>
                  <a:pt x="80367" y="98189"/>
                </a:lnTo>
                <a:lnTo>
                  <a:pt x="80367" y="96701"/>
                </a:lnTo>
                <a:cubicBezTo>
                  <a:pt x="80367" y="92608"/>
                  <a:pt x="77019" y="89260"/>
                  <a:pt x="72926" y="89260"/>
                </a:cubicBezTo>
                <a:cubicBezTo>
                  <a:pt x="68833" y="89260"/>
                  <a:pt x="65484" y="92608"/>
                  <a:pt x="65484" y="9670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112520" y="3509011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Finance Automation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1020" y="3947161"/>
            <a:ext cx="3486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 invoices, send reminders, and accelerate monthly close with helpers that reconcile accounts.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1020" y="4709161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133350" y="0"/>
                </a:moveTo>
                <a:lnTo>
                  <a:pt x="619125" y="0"/>
                </a:lnTo>
                <a:cubicBezTo>
                  <a:pt x="692723" y="0"/>
                  <a:pt x="752475" y="59752"/>
                  <a:pt x="752475" y="133350"/>
                </a:cubicBezTo>
                <a:lnTo>
                  <a:pt x="752475" y="133350"/>
                </a:lnTo>
                <a:cubicBezTo>
                  <a:pt x="752475" y="206948"/>
                  <a:pt x="692723" y="266700"/>
                  <a:pt x="619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1020" y="4709161"/>
            <a:ext cx="819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366599" y="4709161"/>
            <a:ext cx="1381125" cy="266700"/>
          </a:xfrm>
          <a:custGeom>
            <a:avLst/>
            <a:gdLst/>
            <a:ahLst/>
            <a:cxnLst/>
            <a:rect l="l" t="t" r="r" b="b"/>
            <a:pathLst>
              <a:path w="1381125" h="266700">
                <a:moveTo>
                  <a:pt x="133350" y="0"/>
                </a:moveTo>
                <a:lnTo>
                  <a:pt x="1247775" y="0"/>
                </a:lnTo>
                <a:cubicBezTo>
                  <a:pt x="1321373" y="0"/>
                  <a:pt x="1381125" y="59752"/>
                  <a:pt x="1381125" y="133350"/>
                </a:cubicBezTo>
                <a:lnTo>
                  <a:pt x="1381125" y="133350"/>
                </a:lnTo>
                <a:cubicBezTo>
                  <a:pt x="1381125" y="206948"/>
                  <a:pt x="1321373" y="266700"/>
                  <a:pt x="1247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366599" y="4709161"/>
            <a:ext cx="1447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Reminders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825830" y="4709161"/>
            <a:ext cx="1057275" cy="266700"/>
          </a:xfrm>
          <a:custGeom>
            <a:avLst/>
            <a:gdLst/>
            <a:ahLst/>
            <a:cxnLst/>
            <a:rect l="l" t="t" r="r" b="b"/>
            <a:pathLst>
              <a:path w="1057275" h="266700">
                <a:moveTo>
                  <a:pt x="133350" y="0"/>
                </a:moveTo>
                <a:lnTo>
                  <a:pt x="923925" y="0"/>
                </a:lnTo>
                <a:cubicBezTo>
                  <a:pt x="997523" y="0"/>
                  <a:pt x="1057275" y="59752"/>
                  <a:pt x="1057275" y="133350"/>
                </a:cubicBezTo>
                <a:lnTo>
                  <a:pt x="1057275" y="133350"/>
                </a:lnTo>
                <a:cubicBezTo>
                  <a:pt x="1057275" y="206948"/>
                  <a:pt x="997523" y="266700"/>
                  <a:pt x="923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825830" y="4709161"/>
            <a:ext cx="1123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Close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32910" y="3257551"/>
            <a:ext cx="3722370" cy="1874520"/>
          </a:xfrm>
          <a:custGeom>
            <a:avLst/>
            <a:gdLst/>
            <a:ahLst/>
            <a:cxnLst/>
            <a:rect l="l" t="t" r="r" b="b"/>
            <a:pathLst>
              <a:path w="3722370" h="1874520">
                <a:moveTo>
                  <a:pt x="114308" y="0"/>
                </a:moveTo>
                <a:lnTo>
                  <a:pt x="3608062" y="0"/>
                </a:lnTo>
                <a:cubicBezTo>
                  <a:pt x="3671192" y="0"/>
                  <a:pt x="3722370" y="51178"/>
                  <a:pt x="3722370" y="114308"/>
                </a:cubicBezTo>
                <a:lnTo>
                  <a:pt x="3722370" y="1760212"/>
                </a:lnTo>
                <a:cubicBezTo>
                  <a:pt x="3722370" y="1823342"/>
                  <a:pt x="3671192" y="1874520"/>
                  <a:pt x="360806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E4A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389120" y="34137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22470" y="35471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53" name="Text 51"/>
          <p:cNvSpPr/>
          <p:nvPr/>
        </p:nvSpPr>
        <p:spPr>
          <a:xfrm>
            <a:off x="4960620" y="3509011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Reporting Layer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89120" y="3947161"/>
            <a:ext cx="3486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dashboards with real-time data and smart alerts. Get insights pushed to your team automatically.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89120" y="4709161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133350" y="0"/>
                </a:moveTo>
                <a:lnTo>
                  <a:pt x="1057275" y="0"/>
                </a:lnTo>
                <a:cubicBezTo>
                  <a:pt x="1130873" y="0"/>
                  <a:pt x="1190625" y="59752"/>
                  <a:pt x="1190625" y="133350"/>
                </a:cubicBezTo>
                <a:lnTo>
                  <a:pt x="1190625" y="133350"/>
                </a:lnTo>
                <a:cubicBezTo>
                  <a:pt x="1190625" y="206948"/>
                  <a:pt x="1130873" y="266700"/>
                  <a:pt x="1057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0" y="4709161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Dashboards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52731" y="4709161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652731" y="4709161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Alerts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668453" y="4709161"/>
            <a:ext cx="981075" cy="266700"/>
          </a:xfrm>
          <a:custGeom>
            <a:avLst/>
            <a:gdLst/>
            <a:ahLst/>
            <a:cxnLst/>
            <a:rect l="l" t="t" r="r" b="b"/>
            <a:pathLst>
              <a:path w="981075" h="266700">
                <a:moveTo>
                  <a:pt x="133350" y="0"/>
                </a:moveTo>
                <a:lnTo>
                  <a:pt x="847725" y="0"/>
                </a:lnTo>
                <a:cubicBezTo>
                  <a:pt x="921323" y="0"/>
                  <a:pt x="981075" y="59752"/>
                  <a:pt x="981075" y="133350"/>
                </a:cubicBezTo>
                <a:lnTo>
                  <a:pt x="981075" y="133350"/>
                </a:lnTo>
                <a:cubicBezTo>
                  <a:pt x="981075" y="206948"/>
                  <a:pt x="921323" y="266700"/>
                  <a:pt x="847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668453" y="4709161"/>
            <a:ext cx="1047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Reports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81010" y="3257551"/>
            <a:ext cx="3722370" cy="1874520"/>
          </a:xfrm>
          <a:custGeom>
            <a:avLst/>
            <a:gdLst/>
            <a:ahLst/>
            <a:cxnLst/>
            <a:rect l="l" t="t" r="r" b="b"/>
            <a:pathLst>
              <a:path w="3722370" h="1874520">
                <a:moveTo>
                  <a:pt x="114308" y="0"/>
                </a:moveTo>
                <a:lnTo>
                  <a:pt x="3608062" y="0"/>
                </a:lnTo>
                <a:cubicBezTo>
                  <a:pt x="3671192" y="0"/>
                  <a:pt x="3722370" y="51178"/>
                  <a:pt x="3722370" y="114308"/>
                </a:cubicBezTo>
                <a:lnTo>
                  <a:pt x="3722370" y="1760212"/>
                </a:lnTo>
                <a:cubicBezTo>
                  <a:pt x="3722370" y="1823342"/>
                  <a:pt x="3671192" y="1874520"/>
                  <a:pt x="360806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37220" y="34137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70570" y="35471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456" y="142949"/>
                </a:moveTo>
                <a:cubicBezTo>
                  <a:pt x="140233" y="128662"/>
                  <a:pt x="124792" y="119063"/>
                  <a:pt x="107156" y="119063"/>
                </a:cubicBezTo>
                <a:lnTo>
                  <a:pt x="83344" y="119063"/>
                </a:lnTo>
                <a:cubicBezTo>
                  <a:pt x="65708" y="119063"/>
                  <a:pt x="50267" y="128662"/>
                  <a:pt x="42044" y="142949"/>
                </a:cubicBezTo>
                <a:cubicBezTo>
                  <a:pt x="55141" y="157535"/>
                  <a:pt x="74116" y="166688"/>
                  <a:pt x="95250" y="166688"/>
                </a:cubicBezTo>
                <a:cubicBezTo>
                  <a:pt x="116384" y="166688"/>
                  <a:pt x="135359" y="157497"/>
                  <a:pt x="148456" y="142949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01203"/>
                </a:moveTo>
                <a:cubicBezTo>
                  <a:pt x="110035" y="101203"/>
                  <a:pt x="122039" y="89199"/>
                  <a:pt x="122039" y="74414"/>
                </a:cubicBezTo>
                <a:cubicBezTo>
                  <a:pt x="122039" y="59629"/>
                  <a:pt x="110035" y="47625"/>
                  <a:pt x="95250" y="47625"/>
                </a:cubicBezTo>
                <a:cubicBezTo>
                  <a:pt x="80465" y="47625"/>
                  <a:pt x="68461" y="59629"/>
                  <a:pt x="68461" y="74414"/>
                </a:cubicBezTo>
                <a:cubicBezTo>
                  <a:pt x="68461" y="89199"/>
                  <a:pt x="80465" y="101203"/>
                  <a:pt x="95250" y="101203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4" name="Text 62"/>
          <p:cNvSpPr/>
          <p:nvPr/>
        </p:nvSpPr>
        <p:spPr>
          <a:xfrm>
            <a:off x="8808720" y="3509011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Client Portal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37220" y="3947161"/>
            <a:ext cx="3486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White-label customer portal for status tracking, document sharing, and payments—reducing support overhead.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37220" y="4709161"/>
            <a:ext cx="1104900" cy="266700"/>
          </a:xfrm>
          <a:custGeom>
            <a:avLst/>
            <a:gdLst/>
            <a:ahLst/>
            <a:cxnLst/>
            <a:rect l="l" t="t" r="r" b="b"/>
            <a:pathLst>
              <a:path w="1104900" h="266700">
                <a:moveTo>
                  <a:pt x="133350" y="0"/>
                </a:moveTo>
                <a:lnTo>
                  <a:pt x="971550" y="0"/>
                </a:lnTo>
                <a:cubicBezTo>
                  <a:pt x="1045148" y="0"/>
                  <a:pt x="1104900" y="59752"/>
                  <a:pt x="1104900" y="133350"/>
                </a:cubicBezTo>
                <a:lnTo>
                  <a:pt x="1104900" y="133350"/>
                </a:lnTo>
                <a:cubicBezTo>
                  <a:pt x="1104900" y="206948"/>
                  <a:pt x="1045148" y="266700"/>
                  <a:pt x="971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237220" y="4709161"/>
            <a:ext cx="1171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Tracking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414986" y="4709161"/>
            <a:ext cx="1247775" cy="266700"/>
          </a:xfrm>
          <a:custGeom>
            <a:avLst/>
            <a:gdLst/>
            <a:ahLst/>
            <a:cxnLst/>
            <a:rect l="l" t="t" r="r" b="b"/>
            <a:pathLst>
              <a:path w="1247775" h="266700">
                <a:moveTo>
                  <a:pt x="133350" y="0"/>
                </a:moveTo>
                <a:lnTo>
                  <a:pt x="1114425" y="0"/>
                </a:lnTo>
                <a:cubicBezTo>
                  <a:pt x="1188023" y="0"/>
                  <a:pt x="1247775" y="59752"/>
                  <a:pt x="1247775" y="133350"/>
                </a:cubicBezTo>
                <a:lnTo>
                  <a:pt x="1247775" y="133350"/>
                </a:lnTo>
                <a:cubicBezTo>
                  <a:pt x="1247775" y="206948"/>
                  <a:pt x="1188023" y="266700"/>
                  <a:pt x="1114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414986" y="4709161"/>
            <a:ext cx="13144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 Management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740390" y="4709161"/>
            <a:ext cx="790575" cy="266700"/>
          </a:xfrm>
          <a:custGeom>
            <a:avLst/>
            <a:gdLst/>
            <a:ahLst/>
            <a:cxnLst/>
            <a:rect l="l" t="t" r="r" b="b"/>
            <a:pathLst>
              <a:path w="790575" h="266700">
                <a:moveTo>
                  <a:pt x="133350" y="0"/>
                </a:moveTo>
                <a:lnTo>
                  <a:pt x="657225" y="0"/>
                </a:lnTo>
                <a:cubicBezTo>
                  <a:pt x="730823" y="0"/>
                  <a:pt x="790575" y="59752"/>
                  <a:pt x="790575" y="133350"/>
                </a:cubicBezTo>
                <a:lnTo>
                  <a:pt x="790575" y="133350"/>
                </a:lnTo>
                <a:cubicBezTo>
                  <a:pt x="790575" y="206948"/>
                  <a:pt x="730823" y="266700"/>
                  <a:pt x="657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740390" y="4709161"/>
            <a:ext cx="8572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81000" y="525018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723903"/>
                </a:lnTo>
                <a:cubicBezTo>
                  <a:pt x="11430000" y="808069"/>
                  <a:pt x="11361769" y="876300"/>
                  <a:pt x="112776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33400" y="542163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85800" y="55740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1219200" y="542163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Need Something Custom?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219200" y="572643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system is modular—mix, match, and customize for your exact workflow.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287595" y="540258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354270" y="574548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Delivered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7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66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5705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2E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Method + Timeline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876300"/>
            <a:ext cx="556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proven 5-step process gets you live in days, not months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5627370" cy="1303020"/>
          </a:xfrm>
          <a:custGeom>
            <a:avLst/>
            <a:gdLst/>
            <a:ahLst/>
            <a:cxnLst/>
            <a:rect l="l" t="t" r="r" b="b"/>
            <a:pathLst>
              <a:path w="5627370" h="1303020">
                <a:moveTo>
                  <a:pt x="152401" y="0"/>
                </a:moveTo>
                <a:lnTo>
                  <a:pt x="5474969" y="0"/>
                </a:lnTo>
                <a:cubicBezTo>
                  <a:pt x="5559138" y="0"/>
                  <a:pt x="5627370" y="68232"/>
                  <a:pt x="5627370" y="152401"/>
                </a:cubicBezTo>
                <a:lnTo>
                  <a:pt x="5627370" y="1150619"/>
                </a:lnTo>
                <a:cubicBezTo>
                  <a:pt x="5627370" y="1234788"/>
                  <a:pt x="5559138" y="1303020"/>
                  <a:pt x="5474969" y="1303020"/>
                </a:cubicBezTo>
                <a:lnTo>
                  <a:pt x="152401" y="1303020"/>
                </a:lnTo>
                <a:cubicBezTo>
                  <a:pt x="68289" y="1303020"/>
                  <a:pt x="0" y="1234731"/>
                  <a:pt x="0" y="11506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0B981">
                <a:alpha val="30196"/>
              </a:srgbClr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41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54725" y="145542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0620" y="134112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Free Audit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0620" y="1645920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map your workflows, identify bottlenecks, and spotlight quick wins with ROI projections—free.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14122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76199" y="0"/>
                </a:moveTo>
                <a:lnTo>
                  <a:pt x="685801" y="0"/>
                </a:lnTo>
                <a:cubicBezTo>
                  <a:pt x="727856" y="0"/>
                  <a:pt x="762000" y="34144"/>
                  <a:pt x="762000" y="76199"/>
                </a:cubicBezTo>
                <a:lnTo>
                  <a:pt x="762000" y="190501"/>
                </a:lnTo>
                <a:cubicBezTo>
                  <a:pt x="762000" y="232556"/>
                  <a:pt x="727856" y="266700"/>
                  <a:pt x="6858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41220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2–3 Days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42906" y="2141220"/>
            <a:ext cx="1352550" cy="266700"/>
          </a:xfrm>
          <a:custGeom>
            <a:avLst/>
            <a:gdLst/>
            <a:ahLst/>
            <a:cxnLst/>
            <a:rect l="l" t="t" r="r" b="b"/>
            <a:pathLst>
              <a:path w="1352550" h="266700">
                <a:moveTo>
                  <a:pt x="76199" y="0"/>
                </a:moveTo>
                <a:lnTo>
                  <a:pt x="1276351" y="0"/>
                </a:lnTo>
                <a:cubicBezTo>
                  <a:pt x="1318406" y="0"/>
                  <a:pt x="1352550" y="34144"/>
                  <a:pt x="1352550" y="76199"/>
                </a:cubicBezTo>
                <a:lnTo>
                  <a:pt x="1352550" y="190501"/>
                </a:lnTo>
                <a:cubicBezTo>
                  <a:pt x="1352550" y="232556"/>
                  <a:pt x="1318406" y="266700"/>
                  <a:pt x="12763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42906" y="2141220"/>
            <a:ext cx="1419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Mapping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68918" y="2141220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76199" y="0"/>
                </a:moveTo>
                <a:lnTo>
                  <a:pt x="876301" y="0"/>
                </a:lnTo>
                <a:cubicBezTo>
                  <a:pt x="918356" y="0"/>
                  <a:pt x="952500" y="34144"/>
                  <a:pt x="952500" y="76199"/>
                </a:cubicBezTo>
                <a:lnTo>
                  <a:pt x="952500" y="190501"/>
                </a:lnTo>
                <a:cubicBezTo>
                  <a:pt x="952500" y="232556"/>
                  <a:pt x="918356" y="266700"/>
                  <a:pt x="8763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68918" y="2141220"/>
            <a:ext cx="1019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6010" y="1223010"/>
            <a:ext cx="5627370" cy="1303020"/>
          </a:xfrm>
          <a:custGeom>
            <a:avLst/>
            <a:gdLst/>
            <a:ahLst/>
            <a:cxnLst/>
            <a:rect l="l" t="t" r="r" b="b"/>
            <a:pathLst>
              <a:path w="5627370" h="1303020">
                <a:moveTo>
                  <a:pt x="152401" y="0"/>
                </a:moveTo>
                <a:lnTo>
                  <a:pt x="5474969" y="0"/>
                </a:lnTo>
                <a:cubicBezTo>
                  <a:pt x="5559138" y="0"/>
                  <a:pt x="5627370" y="68232"/>
                  <a:pt x="5627370" y="152401"/>
                </a:cubicBezTo>
                <a:lnTo>
                  <a:pt x="5627370" y="1150619"/>
                </a:lnTo>
                <a:cubicBezTo>
                  <a:pt x="5627370" y="1234788"/>
                  <a:pt x="5559138" y="1303020"/>
                  <a:pt x="5474969" y="1303020"/>
                </a:cubicBezTo>
                <a:lnTo>
                  <a:pt x="152401" y="1303020"/>
                </a:lnTo>
                <a:cubicBezTo>
                  <a:pt x="68289" y="1303020"/>
                  <a:pt x="0" y="1234731"/>
                  <a:pt x="0" y="11506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E4A">
                <a:alpha val="30196"/>
              </a:srgbClr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4120" y="1341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9494" y="145542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1820" y="134112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1820" y="1645920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build a working prototype of 1–2 core automations—proving value before scaling up.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94120" y="2141220"/>
            <a:ext cx="771525" cy="266700"/>
          </a:xfrm>
          <a:custGeom>
            <a:avLst/>
            <a:gdLst/>
            <a:ahLst/>
            <a:cxnLst/>
            <a:rect l="l" t="t" r="r" b="b"/>
            <a:pathLst>
              <a:path w="771525" h="266700">
                <a:moveTo>
                  <a:pt x="76199" y="0"/>
                </a:moveTo>
                <a:lnTo>
                  <a:pt x="695326" y="0"/>
                </a:lnTo>
                <a:cubicBezTo>
                  <a:pt x="737381" y="0"/>
                  <a:pt x="771525" y="34144"/>
                  <a:pt x="771525" y="76199"/>
                </a:cubicBezTo>
                <a:lnTo>
                  <a:pt x="771525" y="190501"/>
                </a:lnTo>
                <a:cubicBezTo>
                  <a:pt x="771525" y="232556"/>
                  <a:pt x="737381" y="266700"/>
                  <a:pt x="6953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94120" y="2141220"/>
            <a:ext cx="838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3–5 Days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8035" y="2141220"/>
            <a:ext cx="1209675" cy="266700"/>
          </a:xfrm>
          <a:custGeom>
            <a:avLst/>
            <a:gdLst/>
            <a:ahLst/>
            <a:cxnLst/>
            <a:rect l="l" t="t" r="r" b="b"/>
            <a:pathLst>
              <a:path w="1209675" h="266700">
                <a:moveTo>
                  <a:pt x="76199" y="0"/>
                </a:moveTo>
                <a:lnTo>
                  <a:pt x="1133476" y="0"/>
                </a:lnTo>
                <a:cubicBezTo>
                  <a:pt x="1175531" y="0"/>
                  <a:pt x="1209675" y="34144"/>
                  <a:pt x="1209675" y="76199"/>
                </a:cubicBezTo>
                <a:lnTo>
                  <a:pt x="1209675" y="190501"/>
                </a:lnTo>
                <a:cubicBezTo>
                  <a:pt x="1209675" y="232556"/>
                  <a:pt x="1175531" y="266700"/>
                  <a:pt x="11334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138035" y="2141220"/>
            <a:ext cx="1276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Automation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27601" y="2141220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76199" y="0"/>
                </a:moveTo>
                <a:lnTo>
                  <a:pt x="866776" y="0"/>
                </a:lnTo>
                <a:cubicBezTo>
                  <a:pt x="908831" y="0"/>
                  <a:pt x="942975" y="34144"/>
                  <a:pt x="942975" y="76199"/>
                </a:cubicBezTo>
                <a:lnTo>
                  <a:pt x="942975" y="190501"/>
                </a:lnTo>
                <a:cubicBezTo>
                  <a:pt x="942975" y="232556"/>
                  <a:pt x="908831" y="266700"/>
                  <a:pt x="8667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27601" y="2141220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Testing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2571751"/>
            <a:ext cx="5627370" cy="1303020"/>
          </a:xfrm>
          <a:custGeom>
            <a:avLst/>
            <a:gdLst/>
            <a:ahLst/>
            <a:cxnLst/>
            <a:rect l="l" t="t" r="r" b="b"/>
            <a:pathLst>
              <a:path w="5627370" h="1303020">
                <a:moveTo>
                  <a:pt x="152401" y="0"/>
                </a:moveTo>
                <a:lnTo>
                  <a:pt x="5474969" y="0"/>
                </a:lnTo>
                <a:cubicBezTo>
                  <a:pt x="5559138" y="0"/>
                  <a:pt x="5627370" y="68232"/>
                  <a:pt x="5627370" y="152401"/>
                </a:cubicBezTo>
                <a:lnTo>
                  <a:pt x="5627370" y="1150619"/>
                </a:lnTo>
                <a:cubicBezTo>
                  <a:pt x="5627370" y="1234788"/>
                  <a:pt x="5559138" y="1303020"/>
                  <a:pt x="5474969" y="1303020"/>
                </a:cubicBezTo>
                <a:lnTo>
                  <a:pt x="152401" y="1303020"/>
                </a:lnTo>
                <a:cubicBezTo>
                  <a:pt x="68289" y="1303020"/>
                  <a:pt x="0" y="1234731"/>
                  <a:pt x="0" y="11506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30196"/>
              </a:srgbClr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268986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34960" y="280416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0620" y="2689861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 &amp; Integrate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0620" y="2994661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build-out with API integrations to your existing stack—CRM, ERP, accounting, and more.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" y="3489961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76199" y="0"/>
                </a:moveTo>
                <a:lnTo>
                  <a:pt x="685801" y="0"/>
                </a:lnTo>
                <a:cubicBezTo>
                  <a:pt x="727856" y="0"/>
                  <a:pt x="762000" y="34144"/>
                  <a:pt x="762000" y="76199"/>
                </a:cubicBezTo>
                <a:lnTo>
                  <a:pt x="762000" y="190501"/>
                </a:lnTo>
                <a:cubicBezTo>
                  <a:pt x="762000" y="232556"/>
                  <a:pt x="727856" y="266700"/>
                  <a:pt x="6858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489961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5–7 Days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36358" y="3489961"/>
            <a:ext cx="1133475" cy="266700"/>
          </a:xfrm>
          <a:custGeom>
            <a:avLst/>
            <a:gdLst/>
            <a:ahLst/>
            <a:cxnLst/>
            <a:rect l="l" t="t" r="r" b="b"/>
            <a:pathLst>
              <a:path w="1133475" h="266700">
                <a:moveTo>
                  <a:pt x="76199" y="0"/>
                </a:moveTo>
                <a:lnTo>
                  <a:pt x="1057276" y="0"/>
                </a:lnTo>
                <a:cubicBezTo>
                  <a:pt x="1099331" y="0"/>
                  <a:pt x="1133475" y="34144"/>
                  <a:pt x="1133475" y="76199"/>
                </a:cubicBezTo>
                <a:lnTo>
                  <a:pt x="1133475" y="190501"/>
                </a:lnTo>
                <a:cubicBezTo>
                  <a:pt x="1133475" y="232556"/>
                  <a:pt x="1099331" y="266700"/>
                  <a:pt x="10572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336358" y="3489961"/>
            <a:ext cx="1200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Integrations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546152" y="3489961"/>
            <a:ext cx="1076325" cy="266700"/>
          </a:xfrm>
          <a:custGeom>
            <a:avLst/>
            <a:gdLst/>
            <a:ahLst/>
            <a:cxnLst/>
            <a:rect l="l" t="t" r="r" b="b"/>
            <a:pathLst>
              <a:path w="1076325" h="266700">
                <a:moveTo>
                  <a:pt x="76199" y="0"/>
                </a:moveTo>
                <a:lnTo>
                  <a:pt x="1000126" y="0"/>
                </a:lnTo>
                <a:cubicBezTo>
                  <a:pt x="1042181" y="0"/>
                  <a:pt x="1076325" y="34144"/>
                  <a:pt x="1076325" y="76199"/>
                </a:cubicBezTo>
                <a:lnTo>
                  <a:pt x="1076325" y="190501"/>
                </a:lnTo>
                <a:cubicBezTo>
                  <a:pt x="1076325" y="232556"/>
                  <a:pt x="1042181" y="266700"/>
                  <a:pt x="10001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546152" y="3489961"/>
            <a:ext cx="1143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Migration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6010" y="2571751"/>
            <a:ext cx="5627370" cy="1303020"/>
          </a:xfrm>
          <a:custGeom>
            <a:avLst/>
            <a:gdLst/>
            <a:ahLst/>
            <a:cxnLst/>
            <a:rect l="l" t="t" r="r" b="b"/>
            <a:pathLst>
              <a:path w="5627370" h="1303020">
                <a:moveTo>
                  <a:pt x="152401" y="0"/>
                </a:moveTo>
                <a:lnTo>
                  <a:pt x="5474969" y="0"/>
                </a:lnTo>
                <a:cubicBezTo>
                  <a:pt x="5559138" y="0"/>
                  <a:pt x="5627370" y="68232"/>
                  <a:pt x="5627370" y="152401"/>
                </a:cubicBezTo>
                <a:lnTo>
                  <a:pt x="5627370" y="1150619"/>
                </a:lnTo>
                <a:cubicBezTo>
                  <a:pt x="5627370" y="1234788"/>
                  <a:pt x="5559138" y="1303020"/>
                  <a:pt x="5474969" y="1303020"/>
                </a:cubicBezTo>
                <a:lnTo>
                  <a:pt x="152401" y="1303020"/>
                </a:lnTo>
                <a:cubicBezTo>
                  <a:pt x="68289" y="1303020"/>
                  <a:pt x="0" y="1234731"/>
                  <a:pt x="0" y="11506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0B981">
                <a:alpha val="30196"/>
              </a:srgbClr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94120" y="268986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423065" y="280416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1820" y="2689861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Test &amp; Rollout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1820" y="2994661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with human-in-loop safeguards, error monitoring, and team training for smooth adoption.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94120" y="3489961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76199" y="0"/>
                </a:moveTo>
                <a:lnTo>
                  <a:pt x="685801" y="0"/>
                </a:lnTo>
                <a:cubicBezTo>
                  <a:pt x="727856" y="0"/>
                  <a:pt x="762000" y="34144"/>
                  <a:pt x="762000" y="76199"/>
                </a:cubicBezTo>
                <a:lnTo>
                  <a:pt x="762000" y="190501"/>
                </a:lnTo>
                <a:cubicBezTo>
                  <a:pt x="762000" y="232556"/>
                  <a:pt x="727856" y="266700"/>
                  <a:pt x="6858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94120" y="3489961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2–3 Days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34106" y="3489961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76199" y="0"/>
                </a:moveTo>
                <a:lnTo>
                  <a:pt x="1162051" y="0"/>
                </a:lnTo>
                <a:cubicBezTo>
                  <a:pt x="1204106" y="0"/>
                  <a:pt x="1238250" y="34144"/>
                  <a:pt x="1238250" y="76199"/>
                </a:cubicBezTo>
                <a:lnTo>
                  <a:pt x="1238250" y="190501"/>
                </a:lnTo>
                <a:cubicBezTo>
                  <a:pt x="1238250" y="232556"/>
                  <a:pt x="1204106" y="266700"/>
                  <a:pt x="11620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34106" y="3489961"/>
            <a:ext cx="1304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49628" y="3489961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76199" y="0"/>
                </a:moveTo>
                <a:lnTo>
                  <a:pt x="962026" y="0"/>
                </a:lnTo>
                <a:cubicBezTo>
                  <a:pt x="1004081" y="0"/>
                  <a:pt x="1038225" y="34144"/>
                  <a:pt x="1038225" y="76199"/>
                </a:cubicBezTo>
                <a:lnTo>
                  <a:pt x="1038225" y="190501"/>
                </a:lnTo>
                <a:cubicBezTo>
                  <a:pt x="1038225" y="232556"/>
                  <a:pt x="1004081" y="266700"/>
                  <a:pt x="9620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49628" y="3489961"/>
            <a:ext cx="1104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Training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4810" y="3920490"/>
            <a:ext cx="5474970" cy="1398270"/>
          </a:xfrm>
          <a:custGeom>
            <a:avLst/>
            <a:gdLst/>
            <a:ahLst/>
            <a:cxnLst/>
            <a:rect l="l" t="t" r="r" b="b"/>
            <a:pathLst>
              <a:path w="5474970" h="1398270">
                <a:moveTo>
                  <a:pt x="152397" y="0"/>
                </a:moveTo>
                <a:lnTo>
                  <a:pt x="5322573" y="0"/>
                </a:lnTo>
                <a:cubicBezTo>
                  <a:pt x="5406683" y="0"/>
                  <a:pt x="5474970" y="68287"/>
                  <a:pt x="5474970" y="152397"/>
                </a:cubicBezTo>
                <a:lnTo>
                  <a:pt x="5474970" y="1245873"/>
                </a:lnTo>
                <a:cubicBezTo>
                  <a:pt x="5474970" y="1330039"/>
                  <a:pt x="5406739" y="1398270"/>
                  <a:pt x="5322573" y="1398270"/>
                </a:cubicBezTo>
                <a:lnTo>
                  <a:pt x="152397" y="1398270"/>
                </a:lnTo>
                <a:cubicBezTo>
                  <a:pt x="68287" y="1398270"/>
                  <a:pt x="0" y="1329983"/>
                  <a:pt x="0" y="12458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E4A">
                <a:alpha val="30196"/>
              </a:srgbClr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" y="4038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52" name="Text 50"/>
          <p:cNvSpPr/>
          <p:nvPr/>
        </p:nvSpPr>
        <p:spPr>
          <a:xfrm>
            <a:off x="634484" y="4152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50620" y="40386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0620" y="434340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improvements with weekly tweaks, new features, and performance tuning.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2920" y="493764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76199" y="0"/>
                </a:moveTo>
                <a:lnTo>
                  <a:pt x="638176" y="0"/>
                </a:lnTo>
                <a:cubicBezTo>
                  <a:pt x="680231" y="0"/>
                  <a:pt x="714375" y="34144"/>
                  <a:pt x="714375" y="76199"/>
                </a:cubicBezTo>
                <a:lnTo>
                  <a:pt x="714375" y="190501"/>
                </a:lnTo>
                <a:cubicBezTo>
                  <a:pt x="714375" y="232556"/>
                  <a:pt x="680231" y="266700"/>
                  <a:pt x="6381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4937640"/>
            <a:ext cx="781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94328" y="4937640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76199" y="0"/>
                </a:moveTo>
                <a:lnTo>
                  <a:pt x="1114426" y="0"/>
                </a:lnTo>
                <a:cubicBezTo>
                  <a:pt x="1156481" y="0"/>
                  <a:pt x="1190625" y="34144"/>
                  <a:pt x="1190625" y="76199"/>
                </a:cubicBezTo>
                <a:lnTo>
                  <a:pt x="1190625" y="190501"/>
                </a:lnTo>
                <a:cubicBezTo>
                  <a:pt x="1190625" y="232556"/>
                  <a:pt x="1156481" y="266700"/>
                  <a:pt x="11144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294328" y="4937640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Updates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559010" y="4937640"/>
            <a:ext cx="1390650" cy="266700"/>
          </a:xfrm>
          <a:custGeom>
            <a:avLst/>
            <a:gdLst/>
            <a:ahLst/>
            <a:cxnLst/>
            <a:rect l="l" t="t" r="r" b="b"/>
            <a:pathLst>
              <a:path w="1390650" h="266700">
                <a:moveTo>
                  <a:pt x="76199" y="0"/>
                </a:moveTo>
                <a:lnTo>
                  <a:pt x="1314451" y="0"/>
                </a:lnTo>
                <a:cubicBezTo>
                  <a:pt x="1356506" y="0"/>
                  <a:pt x="1390650" y="34144"/>
                  <a:pt x="1390650" y="76199"/>
                </a:cubicBezTo>
                <a:lnTo>
                  <a:pt x="1390650" y="190501"/>
                </a:lnTo>
                <a:cubicBezTo>
                  <a:pt x="1390650" y="232556"/>
                  <a:pt x="1356506" y="266700"/>
                  <a:pt x="13144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559010" y="4937640"/>
            <a:ext cx="1457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Tuning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019800" y="3916680"/>
            <a:ext cx="5791200" cy="1409700"/>
          </a:xfrm>
          <a:custGeom>
            <a:avLst/>
            <a:gdLst/>
            <a:ahLst/>
            <a:cxnLst/>
            <a:rect l="l" t="t" r="r" b="b"/>
            <a:pathLst>
              <a:path w="5791200" h="1409700">
                <a:moveTo>
                  <a:pt x="152403" y="0"/>
                </a:moveTo>
                <a:lnTo>
                  <a:pt x="5638797" y="0"/>
                </a:lnTo>
                <a:cubicBezTo>
                  <a:pt x="5722967" y="0"/>
                  <a:pt x="5791200" y="68233"/>
                  <a:pt x="5791200" y="152403"/>
                </a:cubicBezTo>
                <a:lnTo>
                  <a:pt x="5791200" y="1257297"/>
                </a:lnTo>
                <a:cubicBezTo>
                  <a:pt x="5791200" y="1341467"/>
                  <a:pt x="5722967" y="1409700"/>
                  <a:pt x="56387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43547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324600" y="450711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0" y="406908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Go-Live Timeline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58000" y="437388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automations are live in 7–14 days. Complex systems in 3–4 weeks.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00850" y="467868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7-14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24663" y="4983361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Average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710964" y="4678680"/>
            <a:ext cx="923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734776" y="4983361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 Rate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81000" y="5402461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52402" y="0"/>
                </a:moveTo>
                <a:lnTo>
                  <a:pt x="11277598" y="0"/>
                </a:lnTo>
                <a:cubicBezTo>
                  <a:pt x="11361768" y="0"/>
                  <a:pt x="11430000" y="68232"/>
                  <a:pt x="11430000" y="152402"/>
                </a:cubicBezTo>
                <a:lnTo>
                  <a:pt x="11430000" y="685798"/>
                </a:lnTo>
                <a:cubicBezTo>
                  <a:pt x="11430000" y="769968"/>
                  <a:pt x="11361768" y="838200"/>
                  <a:pt x="11277598" y="838200"/>
                </a:cubicBezTo>
                <a:lnTo>
                  <a:pt x="152402" y="838200"/>
                </a:lnTo>
                <a:cubicBezTo>
                  <a:pt x="68232" y="838200"/>
                  <a:pt x="0" y="769968"/>
                  <a:pt x="0" y="6857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2E4A"/>
              </a:gs>
              <a:gs pos="100000">
                <a:srgbClr val="1A2E4A">
                  <a:alpha val="9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33400" y="555486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2" name="Shape 70"/>
          <p:cNvSpPr/>
          <p:nvPr/>
        </p:nvSpPr>
        <p:spPr>
          <a:xfrm>
            <a:off x="671513" y="570726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1219200" y="5554861"/>
            <a:ext cx="618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Fixed Quotes, No Surprises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219200" y="5859661"/>
            <a:ext cx="616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get a fixed-price quote after the audit—no scope creep, no hourly billing, no hidden fees.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f60786380ca764777d17559dcb17cc85bd8fedd1.pn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E4A">
                  <a:alpha val="90000"/>
                </a:srgbClr>
              </a:gs>
              <a:gs pos="50000">
                <a:srgbClr val="1A2E4A">
                  <a:alpha val="85000"/>
                </a:srgbClr>
              </a:gs>
              <a:gs pos="100000">
                <a:srgbClr val="1A2E4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53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" name="Shape 2"/>
          <p:cNvSpPr/>
          <p:nvPr/>
        </p:nvSpPr>
        <p:spPr>
          <a:xfrm>
            <a:off x="495300" y="64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511" y="42863"/>
                </a:moveTo>
                <a:lnTo>
                  <a:pt x="14511" y="109612"/>
                </a:lnTo>
                <a:cubicBezTo>
                  <a:pt x="14511" y="117202"/>
                  <a:pt x="17502" y="124480"/>
                  <a:pt x="22860" y="129838"/>
                </a:cubicBezTo>
                <a:lnTo>
                  <a:pt x="108585" y="215563"/>
                </a:lnTo>
                <a:cubicBezTo>
                  <a:pt x="119747" y="226725"/>
                  <a:pt x="137830" y="226725"/>
                  <a:pt x="148992" y="215563"/>
                </a:cubicBezTo>
                <a:lnTo>
                  <a:pt x="215741" y="148813"/>
                </a:lnTo>
                <a:cubicBezTo>
                  <a:pt x="226903" y="137651"/>
                  <a:pt x="226903" y="119569"/>
                  <a:pt x="215741" y="108406"/>
                </a:cubicBezTo>
                <a:lnTo>
                  <a:pt x="130016" y="22681"/>
                </a:lnTo>
                <a:cubicBezTo>
                  <a:pt x="124658" y="17279"/>
                  <a:pt x="117425" y="14288"/>
                  <a:pt x="109835" y="14288"/>
                </a:cubicBezTo>
                <a:lnTo>
                  <a:pt x="43086" y="14288"/>
                </a:lnTo>
                <a:cubicBezTo>
                  <a:pt x="27325" y="14288"/>
                  <a:pt x="14511" y="27102"/>
                  <a:pt x="14511" y="42863"/>
                </a:cubicBezTo>
                <a:close/>
                <a:moveTo>
                  <a:pt x="64517" y="50006"/>
                </a:moveTo>
                <a:cubicBezTo>
                  <a:pt x="72402" y="50006"/>
                  <a:pt x="78804" y="56408"/>
                  <a:pt x="78804" y="64294"/>
                </a:cubicBezTo>
                <a:cubicBezTo>
                  <a:pt x="78804" y="72179"/>
                  <a:pt x="72402" y="78581"/>
                  <a:pt x="64517" y="78581"/>
                </a:cubicBezTo>
                <a:cubicBezTo>
                  <a:pt x="56632" y="78581"/>
                  <a:pt x="50229" y="72179"/>
                  <a:pt x="50229" y="64294"/>
                </a:cubicBezTo>
                <a:cubicBezTo>
                  <a:pt x="50229" y="56408"/>
                  <a:pt x="56632" y="50006"/>
                  <a:pt x="64517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381000"/>
            <a:ext cx="429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+ Next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87630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pricing with guaranteed ROI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1314450"/>
            <a:ext cx="3705225" cy="3810000"/>
          </a:xfrm>
          <a:custGeom>
            <a:avLst/>
            <a:gdLst/>
            <a:ahLst/>
            <a:cxnLst/>
            <a:rect l="l" t="t" r="r" b="b"/>
            <a:pathLst>
              <a:path w="3705225" h="3810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57604"/>
                </a:lnTo>
                <a:cubicBezTo>
                  <a:pt x="3705225" y="3741770"/>
                  <a:pt x="3636995" y="3810000"/>
                  <a:pt x="3552829" y="3810000"/>
                </a:cubicBezTo>
                <a:lnTo>
                  <a:pt x="152396" y="3810000"/>
                </a:lnTo>
                <a:cubicBezTo>
                  <a:pt x="68230" y="3810000"/>
                  <a:pt x="0" y="3741770"/>
                  <a:pt x="0" y="365760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1000" y="1314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038" y="1657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16002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Automations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1981200"/>
            <a:ext cx="93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$299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7434" y="2186941"/>
            <a:ext cx="726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 month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" y="2453641"/>
            <a:ext cx="3400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for teams looking to automate repetitive tasks and workflows with AI agents and smart integrations.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0550" y="32537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876300" y="3215641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3 automation workflows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0550" y="35204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876300" y="3482341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decision engines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0550" y="3787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876300" y="3749041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integrations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0550" y="40538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876300" y="4015741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&amp; support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1500" y="4434841"/>
            <a:ext cx="3324225" cy="495300"/>
          </a:xfrm>
          <a:custGeom>
            <a:avLst/>
            <a:gdLst/>
            <a:ahLst/>
            <a:cxnLst/>
            <a:rect l="l" t="t" r="r" b="b"/>
            <a:pathLst>
              <a:path w="3324225" h="495300">
                <a:moveTo>
                  <a:pt x="114300" y="0"/>
                </a:moveTo>
                <a:lnTo>
                  <a:pt x="3209925" y="0"/>
                </a:lnTo>
                <a:cubicBezTo>
                  <a:pt x="3273051" y="0"/>
                  <a:pt x="3324225" y="51174"/>
                  <a:pt x="3324225" y="114300"/>
                </a:cubicBezTo>
                <a:lnTo>
                  <a:pt x="3324225" y="381000"/>
                </a:lnTo>
                <a:cubicBezTo>
                  <a:pt x="3324225" y="444126"/>
                  <a:pt x="3273051" y="495300"/>
                  <a:pt x="3209925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28638" y="4434841"/>
            <a:ext cx="34099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149010" y="1218823"/>
            <a:ext cx="3705225" cy="3810000"/>
          </a:xfrm>
          <a:custGeom>
            <a:avLst/>
            <a:gdLst/>
            <a:ahLst/>
            <a:cxnLst/>
            <a:rect l="l" t="t" r="r" b="b"/>
            <a:pathLst>
              <a:path w="3705225" h="3810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57604"/>
                </a:lnTo>
                <a:cubicBezTo>
                  <a:pt x="3705225" y="3741770"/>
                  <a:pt x="3636995" y="3810000"/>
                  <a:pt x="3552829" y="3810000"/>
                </a:cubicBezTo>
                <a:lnTo>
                  <a:pt x="152396" y="3810000"/>
                </a:lnTo>
                <a:cubicBezTo>
                  <a:pt x="68230" y="3810000"/>
                  <a:pt x="0" y="3741770"/>
                  <a:pt x="0" y="365760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149010" y="1218823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28" name="Shape 25"/>
          <p:cNvSpPr/>
          <p:nvPr/>
        </p:nvSpPr>
        <p:spPr>
          <a:xfrm>
            <a:off x="4349035" y="143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2E4A">
              <a:alpha val="1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487862" y="15798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1A2E4A"/>
          </a:solidFill>
          <a:ln/>
        </p:spPr>
      </p:sp>
      <p:sp>
        <p:nvSpPr>
          <p:cNvPr id="30" name="Text 27"/>
          <p:cNvSpPr/>
          <p:nvPr/>
        </p:nvSpPr>
        <p:spPr>
          <a:xfrm>
            <a:off x="4949110" y="1519810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 SaaS Module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349035" y="1919860"/>
            <a:ext cx="122495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$1,499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41796" y="2135888"/>
            <a:ext cx="898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349035" y="2415922"/>
            <a:ext cx="3400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custom internal tool, dashboard, or admin panel perfectly tailored to your operations.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368085" y="301599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4669075" y="297599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custom web portal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368085" y="32960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Text 34"/>
          <p:cNvSpPr/>
          <p:nvPr/>
        </p:nvSpPr>
        <p:spPr>
          <a:xfrm>
            <a:off x="4669075" y="3256025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dashboards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368085" y="35760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4669075" y="3536059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368085" y="385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8"/>
          <p:cNvSpPr/>
          <p:nvPr/>
        </p:nvSpPr>
        <p:spPr>
          <a:xfrm>
            <a:off x="4669075" y="3816097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 support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459078" y="4192144"/>
            <a:ext cx="262348" cy="176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640464" y="4176140"/>
            <a:ext cx="7608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E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$149/mo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59565" y="4192144"/>
            <a:ext cx="373237" cy="176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349035" y="4496181"/>
            <a:ext cx="3324225" cy="495300"/>
          </a:xfrm>
          <a:custGeom>
            <a:avLst/>
            <a:gdLst/>
            <a:ahLst/>
            <a:cxnLst/>
            <a:rect l="l" t="t" r="r" b="b"/>
            <a:pathLst>
              <a:path w="3324225" h="495300">
                <a:moveTo>
                  <a:pt x="114300" y="0"/>
                </a:moveTo>
                <a:lnTo>
                  <a:pt x="3209925" y="0"/>
                </a:lnTo>
                <a:cubicBezTo>
                  <a:pt x="3273051" y="0"/>
                  <a:pt x="3324225" y="51174"/>
                  <a:pt x="3324225" y="114300"/>
                </a:cubicBezTo>
                <a:lnTo>
                  <a:pt x="3324225" y="381000"/>
                </a:lnTo>
                <a:cubicBezTo>
                  <a:pt x="3324225" y="444126"/>
                  <a:pt x="3273051" y="495300"/>
                  <a:pt x="3209925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2E4A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4306172" y="4496181"/>
            <a:ext cx="34099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Building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102561" y="1314450"/>
            <a:ext cx="3705225" cy="3810000"/>
          </a:xfrm>
          <a:custGeom>
            <a:avLst/>
            <a:gdLst/>
            <a:ahLst/>
            <a:cxnLst/>
            <a:rect l="l" t="t" r="r" b="b"/>
            <a:pathLst>
              <a:path w="3705225" h="3810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57604"/>
                </a:lnTo>
                <a:cubicBezTo>
                  <a:pt x="3705225" y="3741770"/>
                  <a:pt x="3636995" y="3810000"/>
                  <a:pt x="3552829" y="3810000"/>
                </a:cubicBezTo>
                <a:lnTo>
                  <a:pt x="152396" y="3810000"/>
                </a:lnTo>
                <a:cubicBezTo>
                  <a:pt x="68230" y="3810000"/>
                  <a:pt x="0" y="3741770"/>
                  <a:pt x="0" y="365760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02561" y="1314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9" name="Shape 46"/>
          <p:cNvSpPr/>
          <p:nvPr/>
        </p:nvSpPr>
        <p:spPr>
          <a:xfrm>
            <a:off x="8293061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426411" y="1657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1" name="Text 48"/>
          <p:cNvSpPr/>
          <p:nvPr/>
        </p:nvSpPr>
        <p:spPr>
          <a:xfrm>
            <a:off x="8864561" y="16002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Website / PWA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293061" y="1981200"/>
            <a:ext cx="959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2E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$999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9118878" y="2186941"/>
            <a:ext cx="85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293061" y="2453641"/>
            <a:ext cx="3400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landing pages, client portals, or PWAs that deliver exceptional user experiences.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312111" y="30251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3"/>
          <p:cNvSpPr/>
          <p:nvPr/>
        </p:nvSpPr>
        <p:spPr>
          <a:xfrm>
            <a:off x="8597861" y="2987041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12111" y="32918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5"/>
          <p:cNvSpPr/>
          <p:nvPr/>
        </p:nvSpPr>
        <p:spPr>
          <a:xfrm>
            <a:off x="8597861" y="3253741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optimized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312111" y="35585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0" name="Text 57"/>
          <p:cNvSpPr/>
          <p:nvPr/>
        </p:nvSpPr>
        <p:spPr>
          <a:xfrm>
            <a:off x="8597861" y="3520441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loading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312111" y="38252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59"/>
          <p:cNvSpPr/>
          <p:nvPr/>
        </p:nvSpPr>
        <p:spPr>
          <a:xfrm>
            <a:off x="8597861" y="3787141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included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293061" y="4434841"/>
            <a:ext cx="3324225" cy="495300"/>
          </a:xfrm>
          <a:custGeom>
            <a:avLst/>
            <a:gdLst/>
            <a:ahLst/>
            <a:cxnLst/>
            <a:rect l="l" t="t" r="r" b="b"/>
            <a:pathLst>
              <a:path w="3324225" h="495300">
                <a:moveTo>
                  <a:pt x="114300" y="0"/>
                </a:moveTo>
                <a:lnTo>
                  <a:pt x="3209925" y="0"/>
                </a:lnTo>
                <a:cubicBezTo>
                  <a:pt x="3273051" y="0"/>
                  <a:pt x="3324225" y="51174"/>
                  <a:pt x="3324225" y="114300"/>
                </a:cubicBezTo>
                <a:lnTo>
                  <a:pt x="3324225" y="381000"/>
                </a:lnTo>
                <a:cubicBezTo>
                  <a:pt x="3324225" y="444126"/>
                  <a:pt x="3273051" y="495300"/>
                  <a:pt x="3209925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280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8250198" y="4434841"/>
            <a:ext cx="3409950" cy="49530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More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381000" y="5273041"/>
            <a:ext cx="11430000" cy="1190625"/>
          </a:xfrm>
          <a:custGeom>
            <a:avLst/>
            <a:gdLst/>
            <a:ahLst/>
            <a:cxnLst/>
            <a:rect l="l" t="t" r="r" b="b"/>
            <a:pathLst>
              <a:path w="11430000" h="1190625">
                <a:moveTo>
                  <a:pt x="152400" y="0"/>
                </a:moveTo>
                <a:lnTo>
                  <a:pt x="11277600" y="0"/>
                </a:lnTo>
                <a:cubicBezTo>
                  <a:pt x="11361712" y="0"/>
                  <a:pt x="11430000" y="68288"/>
                  <a:pt x="11430000" y="152400"/>
                </a:cubicBezTo>
                <a:lnTo>
                  <a:pt x="11430000" y="1038225"/>
                </a:lnTo>
                <a:cubicBezTo>
                  <a:pt x="11430000" y="1122337"/>
                  <a:pt x="11361712" y="1190625"/>
                  <a:pt x="11277600" y="1190625"/>
                </a:cubicBezTo>
                <a:lnTo>
                  <a:pt x="152400" y="1190625"/>
                </a:lnTo>
                <a:cubicBezTo>
                  <a:pt x="68288" y="1190625"/>
                  <a:pt x="0" y="1122337"/>
                  <a:pt x="0" y="1038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09600" y="55611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773906" y="572309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9408" y="13953"/>
                </a:moveTo>
                <a:cubicBezTo>
                  <a:pt x="84999" y="3404"/>
                  <a:pt x="73502" y="-2177"/>
                  <a:pt x="62564" y="781"/>
                </a:cubicBezTo>
                <a:lnTo>
                  <a:pt x="59494" y="1619"/>
                </a:lnTo>
                <a:cubicBezTo>
                  <a:pt x="23440" y="11441"/>
                  <a:pt x="-7367" y="46379"/>
                  <a:pt x="1619" y="88906"/>
                </a:cubicBezTo>
                <a:cubicBezTo>
                  <a:pt x="22324" y="186575"/>
                  <a:pt x="99175" y="263426"/>
                  <a:pt x="196844" y="284131"/>
                </a:cubicBezTo>
                <a:cubicBezTo>
                  <a:pt x="239427" y="293173"/>
                  <a:pt x="274309" y="262310"/>
                  <a:pt x="284131" y="226256"/>
                </a:cubicBezTo>
                <a:lnTo>
                  <a:pt x="284969" y="223186"/>
                </a:lnTo>
                <a:cubicBezTo>
                  <a:pt x="287982" y="212192"/>
                  <a:pt x="282346" y="200695"/>
                  <a:pt x="271853" y="196342"/>
                </a:cubicBezTo>
                <a:lnTo>
                  <a:pt x="217550" y="173738"/>
                </a:lnTo>
                <a:cubicBezTo>
                  <a:pt x="208341" y="169887"/>
                  <a:pt x="197681" y="172566"/>
                  <a:pt x="191319" y="180324"/>
                </a:cubicBezTo>
                <a:lnTo>
                  <a:pt x="169776" y="206666"/>
                </a:lnTo>
                <a:cubicBezTo>
                  <a:pt x="130541" y="187189"/>
                  <a:pt x="98952" y="154595"/>
                  <a:pt x="80814" y="114579"/>
                </a:cubicBezTo>
                <a:lnTo>
                  <a:pt x="105482" y="94487"/>
                </a:lnTo>
                <a:cubicBezTo>
                  <a:pt x="113240" y="88181"/>
                  <a:pt x="115863" y="77521"/>
                  <a:pt x="112068" y="68256"/>
                </a:cubicBezTo>
                <a:lnTo>
                  <a:pt x="89408" y="139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5"/>
          <p:cNvSpPr/>
          <p:nvPr/>
        </p:nvSpPr>
        <p:spPr>
          <a:xfrm>
            <a:off x="1409700" y="5501641"/>
            <a:ext cx="621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Request Callback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409700" y="5920741"/>
            <a:ext cx="6162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 us your tools + bottlenecks. We'll return a roadmap and a fixed quote.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9160907" y="5580222"/>
            <a:ext cx="2419350" cy="571500"/>
          </a:xfrm>
          <a:custGeom>
            <a:avLst/>
            <a:gdLst/>
            <a:ahLst/>
            <a:cxnLst/>
            <a:rect l="l" t="t" r="r" b="b"/>
            <a:pathLst>
              <a:path w="2419350" h="571500">
                <a:moveTo>
                  <a:pt x="114300" y="0"/>
                </a:moveTo>
                <a:lnTo>
                  <a:pt x="2305050" y="0"/>
                </a:lnTo>
                <a:cubicBezTo>
                  <a:pt x="2368134" y="0"/>
                  <a:pt x="2419350" y="51216"/>
                  <a:pt x="2419350" y="114300"/>
                </a:cubicBezTo>
                <a:lnTo>
                  <a:pt x="2419350" y="457200"/>
                </a:lnTo>
                <a:cubicBezTo>
                  <a:pt x="2419350" y="520284"/>
                  <a:pt x="2368134" y="571500"/>
                  <a:pt x="230505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9577626" y="57554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2" name="Text 69"/>
          <p:cNvSpPr/>
          <p:nvPr/>
        </p:nvSpPr>
        <p:spPr>
          <a:xfrm>
            <a:off x="9408557" y="5580222"/>
            <a:ext cx="2219325" cy="571500"/>
          </a:xfrm>
          <a:prstGeom prst="rect">
            <a:avLst/>
          </a:prstGeom>
          <a:noFill/>
          <a:ln/>
        </p:spPr>
        <p:txBody>
          <a:bodyPr wrap="square" lIns="381000" tIns="152400" rIns="381000" bIns="1524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Free Audit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AutomateLabs - Custom SaaS + AI Automations</dc:title>
  <dc:subject>AutomateLabs - Custom SaaS + AI Automations</dc:subject>
  <dc:creator>Kimi</dc:creator>
  <cp:lastModifiedBy>Kimi</cp:lastModifiedBy>
  <cp:revision>1</cp:revision>
  <dcterms:created xsi:type="dcterms:W3CDTF">2026-01-24T15:42:00Z</dcterms:created>
  <dcterms:modified xsi:type="dcterms:W3CDTF">2026-01-24T15:42:00Z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{"Label":"AutomateLabs - Custom SaaS + AI Automations","ContentProducer":"001191110108MACG2KBH8F10000","ProduceID":"19bf07b8-e142-89bf-8000-000009bda608","ReservedCode1":"","ContentPropagator":"001191110108MACG2KBH8F20000","PropagateID":"19bf07b8-e142-89bf-8000-000009bda608","ReservedCode2":""}</vt:lpwstr>
  </property>
</Properties>
</file>